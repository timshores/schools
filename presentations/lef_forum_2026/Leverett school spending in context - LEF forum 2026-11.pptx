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f109bf6-85b5-6a2f-8fba-e2ad3e326250}">
          <p14:sldIdLst>
            <p14:sldId id="256"/>
          </p14:sldIdLst>
        </p14:section>
        <p14:section name="Western MA" id="{823ff93d-2612-c055-390f-da662f850b00}">
          <p14:sldIdLst>
            <p14:sldId id="257"/>
          </p14:sldIdLst>
        </p14:section>
        <p14:section name="ARPS" id="{b86d34d5-be51-8ef4-ca33-2a3f2a8e35cb}">
          <p14:sldIdLst>
            <p14:sldId id="258"/>
          </p14:sldIdLst>
        </p14:section>
        <p14:section name="Leverett" id="{516db02f-33af-1b30-c2f3-ea737f419587}">
          <p14:sldIdLst>
            <p14:sldId id="259"/>
          </p14:sldIdLst>
        </p14:section>
        <p14:section name="Pay and funding" id="{72304ef0-1742-cf5a-d484-ee763936472d}">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2E"/>
                </a:solidFill>
                <a:latin typeface="+mn-lt"/>
              </a:defRPr>
            </a:pPr>
            <a:r>
              <a:rPr sz="1400" b="0" i="0" u="none" strike="noStrike">
                <a:solidFill>
                  <a:srgbClr val="1F2A2E"/>
                </a:solidFill>
                <a:latin typeface="+mn-lt"/>
              </a:rPr>
              <a:t>Spending per pupil, nominal dollars</a:t>
            </a:r>
          </a:p>
        </c:rich>
      </c:tx>
      <c:layout/>
      <c:overlay val="0"/>
    </c:title>
    <c:autoTitleDeleted val="0"/>
    <c:plotArea>
      <c:layout/>
      <c:lineChart>
        <c:varyColors val="0"/>
        <c:ser>
          <c:idx val="0"/>
          <c:order val="0"/>
          <c:tx>
            <c:strRef>
              <c:f>Sheet1!$B$1</c:f>
              <c:strCache>
                <c:ptCount val="1"/>
                <c:pt idx="0">
                  <c:v>Districts with 200 or fewer students (21)</c:v>
                </c:pt>
              </c:strCache>
            </c:strRef>
          </c:tx>
          <c:spPr>
            <a:solidFill>
              <a:srgbClr val="2F6F62"/>
            </a:solidFill>
            <a:ln w="38100" cap="flat">
              <a:solidFill>
                <a:srgbClr val="2F6F62"/>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2F6F62"/>
              </a:solidFill>
              <a:ln w="9525" cap="flat">
                <a:solidFill>
                  <a:srgbClr val="2F6F62"/>
                </a:solidFill>
                <a:prstDash val="solid"/>
                <a:round/>
              </a:ln>
              <a:effectLst/>
            </c:spPr>
          </c:marker>
          <c:cat>
            <c:multiLvlStrRef>
              <c:f>Sheet1!$A$2:$A$18</c:f>
              <c:multiLvlStrCache>
                <c:ptCount val="17"/>
                <c:lvl>
                  <c:pt idx="0">
                    <c:v>2009</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pt idx="14">
                    <c:v>2023</c:v>
                  </c:pt>
                  <c:pt idx="15">
                    <c:v>2024</c:v>
                  </c:pt>
                  <c:pt idx="16">
                    <c:v>2025</c:v>
                  </c:pt>
                </c:lvl>
              </c:multiLvlStrCache>
            </c:multiLvlStrRef>
          </c:cat>
          <c:val>
            <c:numRef>
              <c:f>Sheet1!$B$2:$B$18</c:f>
              <c:numCache>
                <c:formatCode>General</c:formatCode>
                <c:ptCount val="17"/>
                <c:pt idx="0">
                  <c:v>14066</c:v>
                </c:pt>
                <c:pt idx="1">
                  <c:v>14529</c:v>
                </c:pt>
                <c:pt idx="2">
                  <c:v>15258.7</c:v>
                </c:pt>
                <c:pt idx="3">
                  <c:v>15436</c:v>
                </c:pt>
                <c:pt idx="4">
                  <c:v>16159.5</c:v>
                </c:pt>
                <c:pt idx="5">
                  <c:v>17195.7</c:v>
                </c:pt>
                <c:pt idx="6">
                  <c:v>17657.2</c:v>
                </c:pt>
                <c:pt idx="7">
                  <c:v>18022.9</c:v>
                </c:pt>
                <c:pt idx="8">
                  <c:v>19072.4</c:v>
                </c:pt>
                <c:pt idx="9">
                  <c:v>18975.1</c:v>
                </c:pt>
                <c:pt idx="10">
                  <c:v>20236.1</c:v>
                </c:pt>
                <c:pt idx="11">
                  <c:v>20659.4</c:v>
                </c:pt>
                <c:pt idx="12">
                  <c:v>24309.1</c:v>
                </c:pt>
                <c:pt idx="13">
                  <c:v>23916.4</c:v>
                </c:pt>
                <c:pt idx="14">
                  <c:v>24669.7</c:v>
                </c:pt>
                <c:pt idx="15">
                  <c:v>26578</c:v>
                </c:pt>
                <c:pt idx="16">
                  <c:v>28924.4</c:v>
                </c:pt>
              </c:numCache>
            </c:numRef>
          </c:val>
          <c:smooth val="0"/>
        </c:ser>
        <c:ser>
          <c:idx val="1"/>
          <c:order val="1"/>
          <c:tx>
            <c:strRef>
              <c:f>Sheet1!$C$1</c:f>
              <c:strCache>
                <c:ptCount val="1"/>
                <c:pt idx="0">
                  <c:v>All Western MA districts (64)</c:v>
                </c:pt>
              </c:strCache>
            </c:strRef>
          </c:tx>
          <c:spPr>
            <a:solidFill>
              <a:srgbClr val="7A8580"/>
            </a:solidFill>
            <a:ln w="38100" cap="flat">
              <a:solidFill>
                <a:srgbClr val="7A858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7A8580"/>
              </a:solidFill>
              <a:ln w="9525" cap="flat">
                <a:solidFill>
                  <a:srgbClr val="7A8580"/>
                </a:solidFill>
                <a:prstDash val="solid"/>
                <a:round/>
              </a:ln>
              <a:effectLst/>
            </c:spPr>
          </c:marker>
          <c:cat>
            <c:multiLvlStrRef>
              <c:f>Sheet1!$A$2:$A$18</c:f>
              <c:multiLvlStrCache>
                <c:ptCount val="17"/>
                <c:lvl>
                  <c:pt idx="0">
                    <c:v>2009</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pt idx="14">
                    <c:v>2023</c:v>
                  </c:pt>
                  <c:pt idx="15">
                    <c:v>2024</c:v>
                  </c:pt>
                  <c:pt idx="16">
                    <c:v>2025</c:v>
                  </c:pt>
                </c:lvl>
              </c:multiLvlStrCache>
            </c:multiLvlStrRef>
          </c:cat>
          <c:val>
            <c:numRef>
              <c:f>Sheet1!$C$2:$C$18</c:f>
              <c:numCache>
                <c:formatCode>General</c:formatCode>
                <c:ptCount val="17"/>
                <c:pt idx="0">
                  <c:v>12210.4</c:v>
                </c:pt>
                <c:pt idx="1">
                  <c:v>12417.4</c:v>
                </c:pt>
                <c:pt idx="2">
                  <c:v>12840.2</c:v>
                </c:pt>
                <c:pt idx="3">
                  <c:v>13037.6</c:v>
                </c:pt>
                <c:pt idx="4">
                  <c:v>13503.4</c:v>
                </c:pt>
                <c:pt idx="5">
                  <c:v>14011.5</c:v>
                </c:pt>
                <c:pt idx="6">
                  <c:v>14446.9</c:v>
                </c:pt>
                <c:pt idx="7">
                  <c:v>14979.6</c:v>
                </c:pt>
                <c:pt idx="8">
                  <c:v>15318.7</c:v>
                </c:pt>
                <c:pt idx="9">
                  <c:v>15771.3</c:v>
                </c:pt>
                <c:pt idx="10">
                  <c:v>16456.8</c:v>
                </c:pt>
                <c:pt idx="11">
                  <c:v>16784.6</c:v>
                </c:pt>
                <c:pt idx="12">
                  <c:v>18312.3</c:v>
                </c:pt>
                <c:pt idx="13">
                  <c:v>19538.9</c:v>
                </c:pt>
                <c:pt idx="14">
                  <c:v>21029.8</c:v>
                </c:pt>
                <c:pt idx="15">
                  <c:v>22041.2</c:v>
                </c:pt>
                <c:pt idx="16">
                  <c:v>22975.6</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FDC"/>
            </a:solidFill>
            <a:prstDash val="solid"/>
            <a:round/>
          </a:ln>
        </c:spPr>
        <c:txPr>
          <a:bodyPr/>
          <a:lstStyle/>
          <a:p>
            <a:pPr>
              <a:defRPr sz="1200" b="0" i="0" u="none" strike="noStrike">
                <a:solidFill>
                  <a:srgbClr val="5E6B66"/>
                </a:solidFill>
                <a:latin typeface="+mn-lt"/>
              </a:defRPr>
            </a:pPr>
            <a:endParaRPr lang="en-US"/>
          </a:p>
        </c:txPr>
        <c:crossAx val="2094734552"/>
        <c:crosses val="autoZero"/>
        <c:auto val="1"/>
        <c:lblAlgn val="ctr"/>
        <c:noMultiLvlLbl val="1"/>
        <c:tickLblSkip val="2"/>
      </c:catAx>
      <c:valAx>
        <c:axId val="2094734552"/>
        <c:scaling>
          <c:orientation val="minMax"/>
          <c:min val="0"/>
        </c:scaling>
        <c:delete val="0"/>
        <c:axPos val="l"/>
        <c:majorGridlines>
          <c:spPr>
            <a:ln w="9525" cap="flat">
              <a:solidFill>
                <a:srgbClr val="D9DFDC"/>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E6B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F2A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2E"/>
                </a:solidFill>
                <a:latin typeface="+mn-lt"/>
              </a:defRPr>
            </a:pPr>
            <a:r>
              <a:rPr sz="1400" b="0" i="0" u="none" strike="noStrike">
                <a:solidFill>
                  <a:srgbClr val="1F2A2E"/>
                </a:solidFill>
                <a:latin typeface="+mn-lt"/>
              </a:rPr>
              <a:t>Spending per pupil, nominal dollars</a:t>
            </a:r>
          </a:p>
        </c:rich>
      </c:tx>
      <c:layout/>
      <c:overlay val="0"/>
    </c:title>
    <c:autoTitleDeleted val="0"/>
    <c:plotArea>
      <c:layout/>
      <c:barChart>
        <c:barDir val="col"/>
        <c:grouping val="clustered"/>
        <c:varyColors val="0"/>
        <c:ser>
          <c:idx val="0"/>
          <c:order val="0"/>
          <c:tx>
            <c:strRef>
              <c:f>Sheet1!$B$1</c:f>
              <c:strCache>
                <c:ptCount val="1"/>
                <c:pt idx="0">
                  <c:v>FY2009</c:v>
                </c:pt>
              </c:strCache>
            </c:strRef>
          </c:tx>
          <c:spPr>
            <a:solidFill>
              <a:srgbClr val="9DB5AC"/>
            </a:solidFill>
            <a:effectLst/>
          </c:spPr>
          <c:invertIfNegative val="0"/>
          <c:dLbls>
            <c:numFmt formatCode="$#,##0,&quot;K&quot;" sourceLinked="0"/>
            <c:txPr>
              <a:bodyPr/>
              <a:lstStyle/>
              <a:p>
                <a:pPr>
                  <a:defRPr b="0" i="0" strike="noStrike" sz="1000" u="none">
                    <a:solidFill>
                      <a:srgbClr val="1F2A2E"/>
                    </a:solidFill>
                    <a:latin typeface="+mn-lt"/>
                  </a:defRPr>
                </a:pPr>
              </a:p>
            </c:txPr>
            <c:showLegendKey val="0"/>
            <c:showVal val="1"/>
            <c:showCatName val="0"/>
            <c:showSerName val="0"/>
            <c:showPercent val="0"/>
            <c:showBubbleSize val="0"/>
            <c:showLeaderLines val="0"/>
          </c:dLbls>
          <c:cat>
            <c:multiLvlStrRef>
              <c:f>Sheet1!$A$2:$A$8</c:f>
              <c:multiLvlStrCache>
                <c:ptCount val="7"/>
                <c:lvl>
                  <c:pt idx="0">
                    <c:v>Western MA</c:v>
                  </c:pt>
                  <c:pt idx="1">
                    <c:v>200 or fewer</c:v>
                  </c:pt>
                  <c:pt idx="2">
                    <c:v>A-P Regional</c:v>
                  </c:pt>
                  <c:pt idx="3">
                    <c:v>Amherst</c:v>
                  </c:pt>
                  <c:pt idx="4">
                    <c:v>Shutesbury</c:v>
                  </c:pt>
                  <c:pt idx="5">
                    <c:v>Pelham</c:v>
                  </c:pt>
                  <c:pt idx="6">
                    <c:v>Leverett</c:v>
                  </c:pt>
                </c:lvl>
              </c:multiLvlStrCache>
            </c:multiLvlStrRef>
          </c:cat>
          <c:val>
            <c:numRef>
              <c:f>Sheet1!$B$2:$B$8</c:f>
              <c:numCache>
                <c:formatCode>General</c:formatCode>
                <c:ptCount val="7"/>
                <c:pt idx="0">
                  <c:v>12210.4</c:v>
                </c:pt>
                <c:pt idx="1">
                  <c:v>14066</c:v>
                </c:pt>
                <c:pt idx="2">
                  <c:v>16211</c:v>
                </c:pt>
                <c:pt idx="3">
                  <c:v>16029</c:v>
                </c:pt>
                <c:pt idx="4">
                  <c:v>14011</c:v>
                </c:pt>
                <c:pt idx="5">
                  <c:v>14733</c:v>
                </c:pt>
                <c:pt idx="6">
                  <c:v>15156</c:v>
                </c:pt>
              </c:numCache>
            </c:numRef>
          </c:val>
        </c:ser>
        <c:ser>
          <c:idx val="1"/>
          <c:order val="1"/>
          <c:tx>
            <c:strRef>
              <c:f>Sheet1!$C$1</c:f>
              <c:strCache>
                <c:ptCount val="1"/>
                <c:pt idx="0">
                  <c:v>FY2025</c:v>
                </c:pt>
              </c:strCache>
            </c:strRef>
          </c:tx>
          <c:spPr>
            <a:solidFill>
              <a:srgbClr val="23423A"/>
            </a:solidFill>
            <a:effectLst/>
          </c:spPr>
          <c:invertIfNegative val="0"/>
          <c:dLbls>
            <c:numFmt formatCode="$#,##0,&quot;K&quot;" sourceLinked="0"/>
            <c:txPr>
              <a:bodyPr/>
              <a:lstStyle/>
              <a:p>
                <a:pPr>
                  <a:defRPr b="0" i="0" strike="noStrike" sz="1000" u="none">
                    <a:solidFill>
                      <a:srgbClr val="1F2A2E"/>
                    </a:solidFill>
                    <a:latin typeface="+mn-lt"/>
                  </a:defRPr>
                </a:pPr>
              </a:p>
            </c:txPr>
            <c:showLegendKey val="0"/>
            <c:showVal val="1"/>
            <c:showCatName val="0"/>
            <c:showSerName val="0"/>
            <c:showPercent val="0"/>
            <c:showBubbleSize val="0"/>
            <c:showLeaderLines val="0"/>
          </c:dLbls>
          <c:cat>
            <c:multiLvlStrRef>
              <c:f>Sheet1!$A$2:$A$8</c:f>
              <c:multiLvlStrCache>
                <c:ptCount val="7"/>
                <c:lvl>
                  <c:pt idx="0">
                    <c:v>Western MA</c:v>
                  </c:pt>
                  <c:pt idx="1">
                    <c:v>200 or fewer</c:v>
                  </c:pt>
                  <c:pt idx="2">
                    <c:v>A-P Regional</c:v>
                  </c:pt>
                  <c:pt idx="3">
                    <c:v>Amherst</c:v>
                  </c:pt>
                  <c:pt idx="4">
                    <c:v>Shutesbury</c:v>
                  </c:pt>
                  <c:pt idx="5">
                    <c:v>Pelham</c:v>
                  </c:pt>
                  <c:pt idx="6">
                    <c:v>Leverett</c:v>
                  </c:pt>
                </c:lvl>
              </c:multiLvlStrCache>
            </c:multiLvlStrRef>
          </c:cat>
          <c:val>
            <c:numRef>
              <c:f>Sheet1!$C$2:$C$8</c:f>
              <c:numCache>
                <c:formatCode>General</c:formatCode>
                <c:ptCount val="7"/>
                <c:pt idx="0">
                  <c:v>22975.6</c:v>
                </c:pt>
                <c:pt idx="1">
                  <c:v>28924.4</c:v>
                </c:pt>
                <c:pt idx="2">
                  <c:v>27899</c:v>
                </c:pt>
                <c:pt idx="3">
                  <c:v>29984</c:v>
                </c:pt>
                <c:pt idx="4">
                  <c:v>27389</c:v>
                </c:pt>
                <c:pt idx="5">
                  <c:v>21573</c:v>
                </c:pt>
                <c:pt idx="6">
                  <c:v>23732</c:v>
                </c:pt>
              </c:numCache>
            </c:numRef>
          </c:val>
        </c:ser>
        <c:dLbls>
          <c:numFmt formatCode="$#,##0,&quot;K&quot;" sourceLinked="0"/>
          <c:txPr>
            <a:bodyPr/>
            <a:lstStyle/>
            <a:p>
              <a:pPr>
                <a:defRPr b="0" i="0" strike="noStrike" sz="1000" u="none">
                  <a:solidFill>
                    <a:srgbClr val="1F2A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DFDC"/>
            </a:solidFill>
            <a:prstDash val="solid"/>
            <a:round/>
          </a:ln>
        </c:spPr>
        <c:txPr>
          <a:bodyPr/>
          <a:lstStyle/>
          <a:p>
            <a:pPr>
              <a:defRPr sz="1200" b="0" i="0" u="none" strike="noStrike">
                <a:solidFill>
                  <a:srgbClr val="5E6B66"/>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9DFDC"/>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E6B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F2A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2E"/>
                </a:solidFill>
                <a:latin typeface="+mn-lt"/>
              </a:defRPr>
            </a:pPr>
            <a:r>
              <a:rPr sz="1400" b="0" i="0" u="none" strike="noStrike">
                <a:solidFill>
                  <a:srgbClr val="1F2A2E"/>
                </a:solidFill>
                <a:latin typeface="+mn-lt"/>
              </a:rPr>
              <a:t>Spending per pupil in FY2025 dollars (adjusted for inflation)</a:t>
            </a:r>
          </a:p>
        </c:rich>
      </c:tx>
      <c:layout/>
      <c:overlay val="0"/>
    </c:title>
    <c:autoTitleDeleted val="0"/>
    <c:plotArea>
      <c:layout/>
      <c:lineChart>
        <c:varyColors val="0"/>
        <c:ser>
          <c:idx val="0"/>
          <c:order val="0"/>
          <c:tx>
            <c:strRef>
              <c:f>Sheet1!$B$1</c:f>
              <c:strCache>
                <c:ptCount val="1"/>
                <c:pt idx="0">
                  <c:v>Leverett</c:v>
                </c:pt>
              </c:strCache>
            </c:strRef>
          </c:tx>
          <c:spPr>
            <a:solidFill>
              <a:srgbClr val="C8553D"/>
            </a:solidFill>
            <a:ln w="38100" cap="flat">
              <a:solidFill>
                <a:srgbClr val="C8553D"/>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C8553D"/>
              </a:solidFill>
              <a:ln w="9525" cap="flat">
                <a:solidFill>
                  <a:srgbClr val="C8553D"/>
                </a:solidFill>
                <a:prstDash val="solid"/>
                <a:round/>
              </a:ln>
              <a:effectLst/>
            </c:spPr>
          </c:marker>
          <c:cat>
            <c:multiLvlStrRef>
              <c:f>Sheet1!$A$2:$A$18</c:f>
              <c:multiLvlStrCache>
                <c:ptCount val="17"/>
                <c:lvl>
                  <c:pt idx="0">
                    <c:v>2009</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pt idx="14">
                    <c:v>2023</c:v>
                  </c:pt>
                  <c:pt idx="15">
                    <c:v>2024</c:v>
                  </c:pt>
                  <c:pt idx="16">
                    <c:v>2025</c:v>
                  </c:pt>
                </c:lvl>
              </c:multiLvlStrCache>
            </c:multiLvlStrRef>
          </c:cat>
          <c:val>
            <c:numRef>
              <c:f>Sheet1!$B$2:$B$18</c:f>
              <c:numCache>
                <c:formatCode>General</c:formatCode>
                <c:ptCount val="17"/>
                <c:pt idx="0">
                  <c:v>21806.3</c:v>
                </c:pt>
                <c:pt idx="1">
                  <c:v>20524.5</c:v>
                </c:pt>
                <c:pt idx="2">
                  <c:v>21163.2</c:v>
                </c:pt>
                <c:pt idx="3">
                  <c:v>23514</c:v>
                </c:pt>
                <c:pt idx="4">
                  <c:v>23070.5</c:v>
                </c:pt>
                <c:pt idx="5">
                  <c:v>27496.1</c:v>
                </c:pt>
                <c:pt idx="6">
                  <c:v>25181.9</c:v>
                </c:pt>
                <c:pt idx="7">
                  <c:v>23845.2</c:v>
                </c:pt>
                <c:pt idx="8">
                  <c:v>23703.2</c:v>
                </c:pt>
                <c:pt idx="9">
                  <c:v>25746.8</c:v>
                </c:pt>
                <c:pt idx="10">
                  <c:v>24515.3</c:v>
                </c:pt>
                <c:pt idx="11">
                  <c:v>23191.2</c:v>
                </c:pt>
                <c:pt idx="12">
                  <c:v>29035.6</c:v>
                </c:pt>
                <c:pt idx="13">
                  <c:v>23622.4</c:v>
                </c:pt>
                <c:pt idx="14">
                  <c:v>23186.6</c:v>
                </c:pt>
                <c:pt idx="15">
                  <c:v>22652.2</c:v>
                </c:pt>
                <c:pt idx="16">
                  <c:v>23732</c:v>
                </c:pt>
              </c:numCache>
            </c:numRef>
          </c:val>
          <c:smooth val="0"/>
        </c:ser>
        <c:ser>
          <c:idx val="1"/>
          <c:order val="1"/>
          <c:tx>
            <c:strRef>
              <c:f>Sheet1!$C$1</c:f>
              <c:strCache>
                <c:ptCount val="1"/>
                <c:pt idx="0">
                  <c:v>Districts with 200 or fewer students</c:v>
                </c:pt>
              </c:strCache>
            </c:strRef>
          </c:tx>
          <c:spPr>
            <a:solidFill>
              <a:srgbClr val="2F6F62"/>
            </a:solidFill>
            <a:ln w="38100" cap="flat">
              <a:solidFill>
                <a:srgbClr val="2F6F62"/>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2F6F62"/>
              </a:solidFill>
              <a:ln w="9525" cap="flat">
                <a:solidFill>
                  <a:srgbClr val="2F6F62"/>
                </a:solidFill>
                <a:prstDash val="solid"/>
                <a:round/>
              </a:ln>
              <a:effectLst/>
            </c:spPr>
          </c:marker>
          <c:cat>
            <c:multiLvlStrRef>
              <c:f>Sheet1!$A$2:$A$18</c:f>
              <c:multiLvlStrCache>
                <c:ptCount val="17"/>
                <c:lvl>
                  <c:pt idx="0">
                    <c:v>2009</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pt idx="14">
                    <c:v>2023</c:v>
                  </c:pt>
                  <c:pt idx="15">
                    <c:v>2024</c:v>
                  </c:pt>
                  <c:pt idx="16">
                    <c:v>2025</c:v>
                  </c:pt>
                </c:lvl>
              </c:multiLvlStrCache>
            </c:multiLvlStrRef>
          </c:cat>
          <c:val>
            <c:numRef>
              <c:f>Sheet1!$C$2:$C$18</c:f>
              <c:numCache>
                <c:formatCode>General</c:formatCode>
                <c:ptCount val="17"/>
                <c:pt idx="0">
                  <c:v>20238</c:v>
                </c:pt>
                <c:pt idx="1">
                  <c:v>20631</c:v>
                </c:pt>
                <c:pt idx="2">
                  <c:v>21236.6</c:v>
                </c:pt>
                <c:pt idx="3">
                  <c:v>20879.1</c:v>
                </c:pt>
                <c:pt idx="4">
                  <c:v>21523.5</c:v>
                </c:pt>
                <c:pt idx="5">
                  <c:v>22584.9</c:v>
                </c:pt>
                <c:pt idx="6">
                  <c:v>23089.8</c:v>
                </c:pt>
                <c:pt idx="7">
                  <c:v>23473.8</c:v>
                </c:pt>
                <c:pt idx="8">
                  <c:v>24420.7</c:v>
                </c:pt>
                <c:pt idx="9">
                  <c:v>23857.2</c:v>
                </c:pt>
                <c:pt idx="10">
                  <c:v>24971.9</c:v>
                </c:pt>
                <c:pt idx="11">
                  <c:v>25104.4</c:v>
                </c:pt>
                <c:pt idx="12">
                  <c:v>28977.4</c:v>
                </c:pt>
                <c:pt idx="13">
                  <c:v>26872.3</c:v>
                </c:pt>
                <c:pt idx="14">
                  <c:v>26269</c:v>
                </c:pt>
                <c:pt idx="15">
                  <c:v>27478.4</c:v>
                </c:pt>
                <c:pt idx="16">
                  <c:v>28924.4</c:v>
                </c:pt>
              </c:numCache>
            </c:numRef>
          </c:val>
          <c:smooth val="0"/>
        </c:ser>
        <c:ser>
          <c:idx val="2"/>
          <c:order val="2"/>
          <c:tx>
            <c:strRef>
              <c:f>Sheet1!$D$1</c:f>
              <c:strCache>
                <c:ptCount val="1"/>
                <c:pt idx="0">
                  <c:v>All Western MA districts</c:v>
                </c:pt>
              </c:strCache>
            </c:strRef>
          </c:tx>
          <c:spPr>
            <a:solidFill>
              <a:srgbClr val="7A8580"/>
            </a:solidFill>
            <a:ln w="38100" cap="flat">
              <a:solidFill>
                <a:srgbClr val="7A858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7A8580"/>
              </a:solidFill>
              <a:ln w="9525" cap="flat">
                <a:solidFill>
                  <a:srgbClr val="7A8580"/>
                </a:solidFill>
                <a:prstDash val="solid"/>
                <a:round/>
              </a:ln>
              <a:effectLst/>
            </c:spPr>
          </c:marker>
          <c:cat>
            <c:multiLvlStrRef>
              <c:f>Sheet1!$A$2:$A$18</c:f>
              <c:multiLvlStrCache>
                <c:ptCount val="17"/>
                <c:lvl>
                  <c:pt idx="0">
                    <c:v>2009</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pt idx="14">
                    <c:v>2023</c:v>
                  </c:pt>
                  <c:pt idx="15">
                    <c:v>2024</c:v>
                  </c:pt>
                  <c:pt idx="16">
                    <c:v>2025</c:v>
                  </c:pt>
                </c:lvl>
              </c:multiLvlStrCache>
            </c:multiLvlStrRef>
          </c:cat>
          <c:val>
            <c:numRef>
              <c:f>Sheet1!$D$2:$D$18</c:f>
              <c:numCache>
                <c:formatCode>General</c:formatCode>
                <c:ptCount val="17"/>
                <c:pt idx="0">
                  <c:v>17568.2</c:v>
                </c:pt>
                <c:pt idx="1">
                  <c:v>17632.6</c:v>
                </c:pt>
                <c:pt idx="2">
                  <c:v>17870.5</c:v>
                </c:pt>
                <c:pt idx="3">
                  <c:v>17634.9</c:v>
                </c:pt>
                <c:pt idx="4">
                  <c:v>17985.7</c:v>
                </c:pt>
                <c:pt idx="5">
                  <c:v>18402.8</c:v>
                </c:pt>
                <c:pt idx="6">
                  <c:v>18891.8</c:v>
                </c:pt>
                <c:pt idx="7">
                  <c:v>19510.1</c:v>
                </c:pt>
                <c:pt idx="8">
                  <c:v>19614.4</c:v>
                </c:pt>
                <c:pt idx="9">
                  <c:v>19829.1</c:v>
                </c:pt>
                <c:pt idx="10">
                  <c:v>20308.2</c:v>
                </c:pt>
                <c:pt idx="11">
                  <c:v>20395.8</c:v>
                </c:pt>
                <c:pt idx="12">
                  <c:v>21829</c:v>
                </c:pt>
                <c:pt idx="13">
                  <c:v>21953.8</c:v>
                </c:pt>
                <c:pt idx="14">
                  <c:v>22393.1</c:v>
                </c:pt>
                <c:pt idx="15">
                  <c:v>22787.9</c:v>
                </c:pt>
                <c:pt idx="16">
                  <c:v>22975.6</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FDC"/>
            </a:solidFill>
            <a:prstDash val="solid"/>
            <a:round/>
          </a:ln>
        </c:spPr>
        <c:txPr>
          <a:bodyPr/>
          <a:lstStyle/>
          <a:p>
            <a:pPr>
              <a:defRPr sz="1200" b="0" i="0" u="none" strike="noStrike">
                <a:solidFill>
                  <a:srgbClr val="5E6B66"/>
                </a:solidFill>
                <a:latin typeface="+mn-lt"/>
              </a:defRPr>
            </a:pPr>
            <a:endParaRPr lang="en-US"/>
          </a:p>
        </c:txPr>
        <c:crossAx val="2094734552"/>
        <c:crosses val="autoZero"/>
        <c:auto val="1"/>
        <c:lblAlgn val="ctr"/>
        <c:noMultiLvlLbl val="1"/>
        <c:tickLblSkip val="2"/>
      </c:catAx>
      <c:valAx>
        <c:axId val="2094734552"/>
        <c:scaling>
          <c:orientation val="minMax"/>
          <c:min val="0"/>
        </c:scaling>
        <c:delete val="0"/>
        <c:axPos val="l"/>
        <c:majorGridlines>
          <c:spPr>
            <a:ln w="9525" cap="flat">
              <a:solidFill>
                <a:srgbClr val="D9DFDC"/>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E6B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F2A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2E"/>
                </a:solidFill>
                <a:latin typeface="+mn-lt"/>
              </a:defRPr>
            </a:pPr>
            <a:r>
              <a:rPr sz="1400" b="0" i="0" u="none" strike="noStrike">
                <a:solidFill>
                  <a:srgbClr val="1F2A2E"/>
                </a:solidFill>
                <a:latin typeface="+mn-lt"/>
              </a:rPr>
              <a:t>Average teacher salary, FY2025</a:t>
            </a:r>
          </a:p>
        </c:rich>
      </c:tx>
      <c:layout/>
      <c:overlay val="0"/>
    </c:title>
    <c:autoTitleDeleted val="0"/>
    <c:plotArea>
      <c:layout/>
      <c:barChart>
        <c:barDir val="bar"/>
        <c:grouping val="clustered"/>
        <c:varyColors val="0"/>
        <c:ser>
          <c:idx val="0"/>
          <c:order val="0"/>
          <c:tx>
            <c:strRef>
              <c:f>Sheet1!$B$1</c:f>
              <c:strCache>
                <c:ptCount val="1"/>
                <c:pt idx="0">
                  <c:v>Average teacher salary, FY2025</c:v>
                </c:pt>
              </c:strCache>
            </c:strRef>
          </c:tx>
          <c:spPr>
            <a:solidFill>
              <a:srgbClr val="2F6F62"/>
            </a:solidFill>
            <a:effectLst/>
          </c:spPr>
          <c:invertIfNegative val="0"/>
          <c:dLbls>
            <c:numFmt formatCode="$#,##0" sourceLinked="0"/>
            <c:txPr>
              <a:bodyPr/>
              <a:lstStyle/>
              <a:p>
                <a:pPr>
                  <a:defRPr b="0" i="0" strike="noStrike" sz="1200" u="none">
                    <a:solidFill>
                      <a:srgbClr val="1F2A2E"/>
                    </a:solidFill>
                    <a:latin typeface="+mn-lt"/>
                  </a:defRPr>
                </a:pPr>
              </a:p>
            </c:txPr>
            <c:showLegendKey val="0"/>
            <c:showVal val="1"/>
            <c:showCatName val="0"/>
            <c:showSerName val="0"/>
            <c:showPercent val="0"/>
            <c:showBubbleSize val="0"/>
            <c:showLeaderLines val="0"/>
          </c:dLbls>
          <c:dPt>
            <c:idx val="0"/>
            <c:invertIfNegative val="0"/>
            <c:bubble3D val="0"/>
            <c:spPr>
              <a:solidFill>
                <a:srgbClr val="2F6F62"/>
              </a:solidFill>
              <a:effectLst/>
            </c:spPr>
          </c:dPt>
          <c:dPt>
            <c:idx val="1"/>
            <c:invertIfNegative val="0"/>
            <c:bubble3D val="0"/>
            <c:spPr>
              <a:solidFill>
                <a:srgbClr val="2F6F62"/>
              </a:solidFill>
              <a:effectLst/>
            </c:spPr>
          </c:dPt>
          <c:dPt>
            <c:idx val="2"/>
            <c:invertIfNegative val="0"/>
            <c:bubble3D val="0"/>
            <c:spPr>
              <a:solidFill>
                <a:srgbClr val="9DB5AC"/>
              </a:solidFill>
              <a:effectLst/>
            </c:spPr>
          </c:dPt>
          <c:dPt>
            <c:idx val="3"/>
            <c:invertIfNegative val="0"/>
            <c:bubble3D val="0"/>
            <c:spPr>
              <a:solidFill>
                <a:srgbClr val="2F6F62"/>
              </a:solidFill>
              <a:effectLst/>
            </c:spPr>
          </c:dPt>
          <c:dPt>
            <c:idx val="4"/>
            <c:invertIfNegative val="0"/>
            <c:bubble3D val="0"/>
            <c:spPr>
              <a:solidFill>
                <a:srgbClr val="2F6F62"/>
              </a:solidFill>
              <a:effectLst/>
            </c:spPr>
          </c:dPt>
          <c:dPt>
            <c:idx val="5"/>
            <c:invertIfNegative val="0"/>
            <c:bubble3D val="0"/>
            <c:spPr>
              <a:solidFill>
                <a:srgbClr val="9DB5AC"/>
              </a:solidFill>
              <a:effectLst/>
            </c:spPr>
          </c:dPt>
          <c:dPt>
            <c:idx val="6"/>
            <c:invertIfNegative val="0"/>
            <c:bubble3D val="0"/>
            <c:spPr>
              <a:solidFill>
                <a:srgbClr val="C8553D"/>
              </a:solidFill>
              <a:effectLst/>
            </c:spPr>
          </c:dPt>
          <c:cat>
            <c:multiLvlStrRef>
              <c:f>Sheet1!$A$2:$A$8</c:f>
              <c:multiLvlStrCache>
                <c:ptCount val="7"/>
                <c:lvl>
                  <c:pt idx="0">
                    <c:v>Amherst</c:v>
                  </c:pt>
                  <c:pt idx="1">
                    <c:v>Amherst-Pelham Reg.</c:v>
                  </c:pt>
                  <c:pt idx="2">
                    <c:v>Western MA</c:v>
                  </c:pt>
                  <c:pt idx="3">
                    <c:v>Pelham</c:v>
                  </c:pt>
                  <c:pt idx="4">
                    <c:v>Shutesbury</c:v>
                  </c:pt>
                  <c:pt idx="5">
                    <c:v>200 or fewer</c:v>
                  </c:pt>
                  <c:pt idx="6">
                    <c:v>Leverett</c:v>
                  </c:pt>
                </c:lvl>
              </c:multiLvlStrCache>
            </c:multiLvlStrRef>
          </c:cat>
          <c:val>
            <c:numRef>
              <c:f>Sheet1!$B$2:$B$8</c:f>
              <c:numCache>
                <c:formatCode>General</c:formatCode>
                <c:ptCount val="7"/>
                <c:pt idx="0">
                  <c:v>93272</c:v>
                </c:pt>
                <c:pt idx="1">
                  <c:v>86105</c:v>
                </c:pt>
                <c:pt idx="2">
                  <c:v>83851.2</c:v>
                </c:pt>
                <c:pt idx="3">
                  <c:v>75776</c:v>
                </c:pt>
                <c:pt idx="4">
                  <c:v>73238</c:v>
                </c:pt>
                <c:pt idx="5">
                  <c:v>72544.1</c:v>
                </c:pt>
                <c:pt idx="6">
                  <c:v>63065</c:v>
                </c:pt>
              </c:numCache>
            </c:numRef>
          </c:val>
        </c:ser>
        <c:dLbls>
          <c:numFmt formatCode="$#,##0" sourceLinked="0"/>
          <c:txPr>
            <a:bodyPr/>
            <a:lstStyle/>
            <a:p>
              <a:pPr>
                <a:defRPr b="0" i="0" strike="noStrike" sz="1200" u="none">
                  <a:solidFill>
                    <a:srgbClr val="1F2A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FDC"/>
            </a:solidFill>
            <a:prstDash val="solid"/>
            <a:round/>
          </a:ln>
        </c:spPr>
        <c:txPr>
          <a:bodyPr/>
          <a:lstStyle/>
          <a:p>
            <a:pPr>
              <a:defRPr sz="1200" b="0" i="0" u="none" strike="noStrike">
                <a:solidFill>
                  <a:srgbClr val="5E6B66"/>
                </a:solidFill>
                <a:latin typeface="+mn-lt"/>
              </a:defRPr>
            </a:pPr>
            <a:endParaRPr lang="en-US"/>
          </a:p>
        </c:txPr>
        <c:crossAx val="2094734552"/>
        <c:crosses val="autoZero"/>
        <c:auto val="1"/>
        <c:lblAlgn val="ctr"/>
        <c:noMultiLvlLbl val="1"/>
      </c:catAx>
      <c:valAx>
        <c:axId val="2094734552"/>
        <c:scaling>
          <c:orientation val="minMax"/>
          <c:max val="12000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5E6B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Per-pupil expenditure (PPE) is a flawed lens on school budgets: one number hides student needs, buildings, governance and history. It is also the standard the state reports and the public uses, so it is worth understanding in full.
The comparison group is the 21 Western MA traditional districts with 200 or fewer in-district students in FY2025, the report's "Tiny" cohort definition. Leverett ranks 19 of 21 on FY2025 PPE.
Inflation uses the CPI-U for the Northeast, averaged over each July–June fiscal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Schools are labor-intensive: most of a budget is salaries and benefits, which follow regional labor markets rather than local revenue. Staffing minimums, buildings, transportation and special education services do not shrink in proportion to enrollment, so small districts spend more per pupil.
Western MA averages are weighted by enrollment; Springfield is excluded as an outlier. 64 traditional districts in FY2025.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finding of the Western MA Per Pupil Expenditure Report: in 2009 the ARPS districts already spent well above regional averages, and ordinary growth applied to a high base keeps them above average. The question shifts from 'why are costs so high?' to 'how do we manage the system we have inherited at ordinary growth rates?'
Amherst-Pelham Regional: $16,211 to $27,899, 3.5% a year.
Amherst: $16,029 to $29,984, 4.0% a year.
Shutesbury: $14,011 to $27,389, 4.3% a year.
Leverett: $15,156 to $23,732, 2.8% a year.
Pelham: $14,733 to $21,573, 2.4%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2009 Leverett spent $15,156 per pupil, above the $14,066 average for the districts that are its size today. In FY2025 it spent $23,732, against $28,924.
When enrollment fell from 162 to 124, fixed costs were spread over fewer students and per-pupil spending jumped. Enrollment recovered, and since 2014 spending per pupil has grown 1.1% a year in nominal dollars, from $20,935 to $23,732: slower than prices, so it fell after inflation.
Enrollment here is DESE in-district FTE: Leverett residents plus school-choice students. Foundation enrollment, the residents the town pays for, was 105 in FY2025.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teacher salary is DESE's figure for each district. It reflects experience and credentials as well as pay scales, and with about 16 teachers Leverett's average moves with a few hires or retirements. FY2018 is the first year DESE reports it in this dataset.
Leverett: $56,975 in FY2018, $63,065 in FY2025. Districts its size: $63,498 to $72,544. Peer and Western MA averages are weighted by teacher FTE.
Leverett funds $10,788 per pupil above the state's required minimum (net school spending), against $8,811 for districts its size. Chapter 70 aid and net school spending are per foundation pupil, the residents the district pays for.
Closing point from the report: structural funding challenges will persist until the Commonwealth changes policy that no region, town or district can change alone. See Rural Schools MA and the July 2022 report A Sustainable Future for Rural Schools.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914400"/>
            <a:ext cx="6583680" cy="2011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3154680"/>
            <a:ext cx="6400800" cy="118872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4" name="Text 0"/>
          <p:cNvSpPr/>
          <p:nvPr>
            <p:ph idx="102" type="body" hasCustomPrompt="1"/>
          </p:nvPr>
        </p:nvSpPr>
        <p:spPr>
          <a:xfrm>
            <a:off x="640080" y="5806440"/>
            <a:ext cx="7315200" cy="45720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rt and commentar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Data: Massachusetts DESE, FY2009–FY2025. Analysis: Tim Shores.</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914400"/>
            <a:ext cx="6583680" cy="2011680"/>
          </a:xfrm>
          <a:prstGeom prst="rect">
            <a:avLst/>
          </a:prstGeom>
          <a:noFill/>
          <a:ln/>
        </p:spPr>
        <p:txBody>
          <a:bodyPr wrap="square" lIns="0" tIns="0" rIns="0" bIns="0" rtlCol="0" anchor="b"/>
          <a:lstStyle/>
          <a:p>
            <a:pPr algn="l" indent="0" marL="0">
              <a:buNone/>
            </a:pPr>
            <a:r>
              <a:rPr lang="en-US" sz="4000" b="1" dirty="0">
                <a:solidFill>
                  <a:schemeClr val="bg1"/>
                </a:solidFill>
              </a:rPr>
              <a:t>Leverett's school spending in context</a:t>
            </a:r>
            <a:endParaRPr lang="en-US" sz="4000" dirty="0"/>
          </a:p>
        </p:txBody>
      </p:sp>
      <p:sp>
        <p:nvSpPr>
          <p:cNvPr id="3" name="Text 0"/>
          <p:cNvSpPr/>
          <p:nvPr>
            <p:ph idx="101" type="body" hasCustomPrompt="1"/>
          </p:nvPr>
        </p:nvSpPr>
        <p:spPr>
          <a:xfrm>
            <a:off x="640080" y="3154680"/>
            <a:ext cx="6400800" cy="1188720"/>
          </a:xfrm>
          <a:prstGeom prst="rect">
            <a:avLst/>
          </a:prstGeom>
          <a:noFill/>
          <a:ln/>
        </p:spPr>
        <p:txBody>
          <a:bodyPr wrap="square" lIns="0" tIns="0" rIns="0" bIns="0" rtlCol="0" anchor="t"/>
          <a:lstStyle/>
          <a:p>
            <a:pPr indent="0" marL="0">
              <a:buNone/>
            </a:pPr>
            <a:r>
              <a:rPr lang="en-US" sz="1800" dirty="0">
                <a:solidFill>
                  <a:schemeClr val="bg2"/>
                </a:solidFill>
              </a:rPr>
              <a:t>Per-pupil spending at Leverett Elementary, 2009–2025, compared with the ARPS towns and Western Massachusetts</a:t>
            </a:r>
            <a:endParaRPr lang="en-US" sz="1800" dirty="0"/>
          </a:p>
        </p:txBody>
      </p:sp>
      <p:sp>
        <p:nvSpPr>
          <p:cNvPr id="4" name="Text 0"/>
          <p:cNvSpPr/>
          <p:nvPr>
            <p:ph idx="102" type="body" hasCustomPrompt="1"/>
          </p:nvPr>
        </p:nvSpPr>
        <p:spPr>
          <a:xfrm>
            <a:off x="640080" y="5806440"/>
            <a:ext cx="7315200" cy="457200"/>
          </a:xfrm>
          <a:prstGeom prst="rect">
            <a:avLst/>
          </a:prstGeom>
          <a:noFill/>
          <a:ln/>
        </p:spPr>
        <p:txBody>
          <a:bodyPr wrap="square" lIns="0" tIns="0" rIns="0" bIns="0" rtlCol="0" anchor="t"/>
          <a:lstStyle/>
          <a:p>
            <a:pPr indent="0" marL="0">
              <a:buNone/>
            </a:pPr>
            <a:r>
              <a:rPr lang="en-US" sz="1400" dirty="0">
                <a:solidFill>
                  <a:schemeClr val="bg2"/>
                </a:solidFill>
              </a:rPr>
              <a:t>Tim Shores  ·  Leverett Education Foundation Education Forum  ·  November 2026</a:t>
            </a:r>
            <a:endParaRPr lang="en-US" sz="1400" dirty="0"/>
          </a:p>
        </p:txBody>
      </p:sp>
      <p:sp>
        <p:nvSpPr>
          <p:cNvPr id="5" name="stat card 1"/>
          <p:cNvSpPr/>
          <p:nvPr/>
        </p:nvSpPr>
        <p:spPr>
          <a:xfrm>
            <a:off x="7818120" y="914400"/>
            <a:ext cx="3840480" cy="1371600"/>
          </a:xfrm>
          <a:prstGeom prst="roundRect">
            <a:avLst>
              <a:gd name="adj" fmla="val 8000"/>
            </a:avLst>
          </a:prstGeom>
          <a:solidFill>
            <a:schemeClr val="bg1">
              <a:alpha val="12000"/>
            </a:schemeClr>
          </a:solidFill>
          <a:ln w="9525">
            <a:solidFill>
              <a:schemeClr val="bg1">
                <a:alpha val="30000"/>
              </a:schemeClr>
            </a:solidFill>
            <a:prstDash val="solid"/>
          </a:ln>
        </p:spPr>
      </p:sp>
      <p:sp>
        <p:nvSpPr>
          <p:cNvPr id="6" name="stat 1"/>
          <p:cNvSpPr txBox="1"/>
          <p:nvPr/>
        </p:nvSpPr>
        <p:spPr>
          <a:xfrm>
            <a:off x="8046720" y="1051560"/>
            <a:ext cx="3429000" cy="109728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$23,732</a:t>
            </a:r>
            <a:endParaRPr lang="en-US" sz="3000" dirty="0"/>
          </a:p>
          <a:p>
            <a:pPr indent="0" marL="0">
              <a:buNone/>
            </a:pPr>
            <a:r>
              <a:rPr lang="en-US" sz="1300" dirty="0">
                <a:solidFill>
                  <a:schemeClr val="bg2"/>
                </a:solidFill>
              </a:rPr>
              <a:t>Leverett, spending per pupil, FY2025</a:t>
            </a:r>
            <a:endParaRPr lang="en-US" sz="3000" dirty="0"/>
          </a:p>
        </p:txBody>
      </p:sp>
      <p:sp>
        <p:nvSpPr>
          <p:cNvPr id="7" name="stat card 2"/>
          <p:cNvSpPr/>
          <p:nvPr/>
        </p:nvSpPr>
        <p:spPr>
          <a:xfrm>
            <a:off x="7818120" y="2514600"/>
            <a:ext cx="3840480" cy="1371600"/>
          </a:xfrm>
          <a:prstGeom prst="roundRect">
            <a:avLst>
              <a:gd name="adj" fmla="val 8000"/>
            </a:avLst>
          </a:prstGeom>
          <a:solidFill>
            <a:schemeClr val="bg1">
              <a:alpha val="12000"/>
            </a:schemeClr>
          </a:solidFill>
          <a:ln w="9525">
            <a:solidFill>
              <a:schemeClr val="bg1">
                <a:alpha val="30000"/>
              </a:schemeClr>
            </a:solidFill>
            <a:prstDash val="solid"/>
          </a:ln>
        </p:spPr>
      </p:sp>
      <p:sp>
        <p:nvSpPr>
          <p:cNvPr id="8" name="stat 2"/>
          <p:cNvSpPr txBox="1"/>
          <p:nvPr/>
        </p:nvSpPr>
        <p:spPr>
          <a:xfrm>
            <a:off x="8046720" y="2651760"/>
            <a:ext cx="3429000" cy="109728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$28,924</a:t>
            </a:r>
            <a:endParaRPr lang="en-US" sz="3000" dirty="0"/>
          </a:p>
          <a:p>
            <a:pPr indent="0" marL="0">
              <a:buNone/>
            </a:pPr>
            <a:r>
              <a:rPr lang="en-US" sz="1300" dirty="0">
                <a:solidFill>
                  <a:schemeClr val="bg2"/>
                </a:solidFill>
              </a:rPr>
              <a:t>Average for the 21 Western MA districts with 200 or fewer students</a:t>
            </a:r>
            <a:endParaRPr lang="en-US" sz="3000" dirty="0"/>
          </a:p>
        </p:txBody>
      </p:sp>
      <p:sp>
        <p:nvSpPr>
          <p:cNvPr id="9" name="stat card 3"/>
          <p:cNvSpPr/>
          <p:nvPr/>
        </p:nvSpPr>
        <p:spPr>
          <a:xfrm>
            <a:off x="7818120" y="4114800"/>
            <a:ext cx="3840480" cy="1371600"/>
          </a:xfrm>
          <a:prstGeom prst="roundRect">
            <a:avLst>
              <a:gd name="adj" fmla="val 8000"/>
            </a:avLst>
          </a:prstGeom>
          <a:solidFill>
            <a:schemeClr val="bg1">
              <a:alpha val="12000"/>
            </a:schemeClr>
          </a:solidFill>
          <a:ln w="9525">
            <a:solidFill>
              <a:schemeClr val="bg1">
                <a:alpha val="30000"/>
              </a:schemeClr>
            </a:solidFill>
            <a:prstDash val="solid"/>
          </a:ln>
        </p:spPr>
      </p:sp>
      <p:sp>
        <p:nvSpPr>
          <p:cNvPr id="10" name="stat 3"/>
          <p:cNvSpPr txBox="1"/>
          <p:nvPr/>
        </p:nvSpPr>
        <p:spPr>
          <a:xfrm>
            <a:off x="8046720" y="4251960"/>
            <a:ext cx="3429000" cy="109728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+9% vs +43%</a:t>
            </a:r>
            <a:endParaRPr lang="en-US" sz="3000" dirty="0"/>
          </a:p>
          <a:p>
            <a:pPr indent="0" marL="0">
              <a:buNone/>
            </a:pPr>
            <a:r>
              <a:rPr lang="en-US" sz="1300" dirty="0">
                <a:solidFill>
                  <a:schemeClr val="bg2"/>
                </a:solidFill>
              </a:rPr>
              <a:t>Growth since 2009 after inflation: Leverett vs those districts</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rPr>
              <a:t>Small districts spend more per pupil, and all of them grew</a:t>
            </a:r>
            <a:endParaRPr lang="en-US" sz="3200" dirty="0"/>
          </a:p>
        </p:txBody>
      </p:sp>
      <p:graphicFrame>
        <p:nvGraphicFramePr>
          <p:cNvPr id="3" name="Western MA PPE chart" descr=""/>
          <p:cNvGraphicFramePr/>
          <p:nvPr/>
        </p:nvGraphicFramePr>
        <p:xfrm>
          <a:off x="548640" y="141732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callout growth"/>
          <p:cNvSpPr txBox="1"/>
          <p:nvPr/>
        </p:nvSpPr>
        <p:spPr>
          <a:xfrm>
            <a:off x="7955280" y="1554480"/>
            <a:ext cx="3657600" cy="96012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4.0% a year</a:t>
            </a:r>
            <a:endParaRPr lang="en-US" sz="3000" dirty="0"/>
          </a:p>
          <a:p>
            <a:pPr indent="0" marL="0">
              <a:buNone/>
            </a:pPr>
            <a:r>
              <a:rPr lang="en-US" sz="1400" dirty="0">
                <a:solidFill>
                  <a:schemeClr val="tx1"/>
                </a:solidFill>
              </a:rPr>
              <a:t>Average growth in Western MA per-pupil spending, 2009–2025</a:t>
            </a:r>
            <a:endParaRPr lang="en-US" sz="3000" dirty="0"/>
          </a:p>
        </p:txBody>
      </p:sp>
      <p:sp>
        <p:nvSpPr>
          <p:cNvPr id="5" name="callout small premium"/>
          <p:cNvSpPr txBox="1"/>
          <p:nvPr/>
        </p:nvSpPr>
        <p:spPr>
          <a:xfrm>
            <a:off x="7955280" y="2880360"/>
            <a:ext cx="3657600" cy="96012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$5,949</a:t>
            </a:r>
            <a:endParaRPr lang="en-US" sz="3000" dirty="0"/>
          </a:p>
          <a:p>
            <a:pPr indent="0" marL="0">
              <a:buNone/>
            </a:pPr>
            <a:r>
              <a:rPr lang="en-US" sz="1400" dirty="0">
                <a:solidFill>
                  <a:schemeClr val="tx1"/>
                </a:solidFill>
              </a:rPr>
              <a:t>More per pupil in districts with 200 or fewer students, FY2025: fixed costs spread over fewer students</a:t>
            </a:r>
            <a:endParaRPr lang="en-US" sz="3000" dirty="0"/>
          </a:p>
        </p:txBody>
      </p:sp>
      <p:sp>
        <p:nvSpPr>
          <p:cNvPr id="6" name="callout real"/>
          <p:cNvSpPr txBox="1"/>
          <p:nvPr/>
        </p:nvSpPr>
        <p:spPr>
          <a:xfrm>
            <a:off x="7955280" y="4206240"/>
            <a:ext cx="3657600" cy="96012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+31%</a:t>
            </a:r>
            <a:endParaRPr lang="en-US" sz="3000" dirty="0"/>
          </a:p>
          <a:p>
            <a:pPr indent="0" marL="0">
              <a:buNone/>
            </a:pPr>
            <a:r>
              <a:rPr lang="en-US" sz="1400" dirty="0">
                <a:solidFill>
                  <a:schemeClr val="tx1"/>
                </a:solidFill>
              </a:rPr>
              <a:t>Western MA growth since 2009 after inflation</a:t>
            </a:r>
            <a:endParaRPr lang="en-US" sz="3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rPr>
              <a:t>The ARPS towns started high and grew at ordinary rates</a:t>
            </a:r>
            <a:endParaRPr lang="en-US" sz="3200" dirty="0"/>
          </a:p>
        </p:txBody>
      </p:sp>
      <p:graphicFrame>
        <p:nvGraphicFramePr>
          <p:cNvPr id="3" name="ARPS PPE chart" descr=""/>
          <p:cNvGraphicFramePr/>
          <p:nvPr/>
        </p:nvGraphicFramePr>
        <p:xfrm>
          <a:off x="548640" y="141732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4" name="callout start"/>
          <p:cNvSpPr txBox="1"/>
          <p:nvPr/>
        </p:nvSpPr>
        <p:spPr>
          <a:xfrm>
            <a:off x="8229600" y="1554480"/>
            <a:ext cx="3474720" cy="96012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$14,011+</a:t>
            </a:r>
            <a:endParaRPr lang="en-US" sz="3000" dirty="0"/>
          </a:p>
          <a:p>
            <a:pPr indent="0" marL="0">
              <a:buNone/>
            </a:pPr>
            <a:r>
              <a:rPr lang="en-US" sz="1400" dirty="0">
                <a:solidFill>
                  <a:schemeClr val="tx1"/>
                </a:solidFill>
              </a:rPr>
              <a:t>Every ARPS district spent more per pupil in 2009 than the Western MA average of $12,210</a:t>
            </a:r>
            <a:endParaRPr lang="en-US" sz="3000" dirty="0"/>
          </a:p>
        </p:txBody>
      </p:sp>
      <p:sp>
        <p:nvSpPr>
          <p:cNvPr id="5" name="callout rates"/>
          <p:cNvSpPr txBox="1"/>
          <p:nvPr/>
        </p:nvSpPr>
        <p:spPr>
          <a:xfrm>
            <a:off x="8229600" y="2971800"/>
            <a:ext cx="3474720" cy="96012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2.4–4.3% a year</a:t>
            </a:r>
            <a:endParaRPr lang="en-US" sz="3000" dirty="0"/>
          </a:p>
          <a:p>
            <a:pPr indent="0" marL="0">
              <a:buNone/>
            </a:pPr>
            <a:r>
              <a:rPr lang="en-US" sz="1400" dirty="0">
                <a:solidFill>
                  <a:schemeClr val="tx1"/>
                </a:solidFill>
              </a:rPr>
              <a:t>ARPS growth since 2009, against 4.0% for Western MA</a:t>
            </a:r>
            <a:endParaRPr lang="en-US" sz="3000" dirty="0"/>
          </a:p>
        </p:txBody>
      </p:sp>
      <p:sp>
        <p:nvSpPr>
          <p:cNvPr id="6" name="takeaway"/>
          <p:cNvSpPr txBox="1"/>
          <p:nvPr/>
        </p:nvSpPr>
        <p:spPr>
          <a:xfrm>
            <a:off x="8229600" y="4434840"/>
            <a:ext cx="3474720" cy="1097280"/>
          </a:xfrm>
          <a:prstGeom prst="rect">
            <a:avLst/>
          </a:prstGeom>
          <a:noFill/>
          <a:ln/>
        </p:spPr>
        <p:txBody>
          <a:bodyPr wrap="square" lIns="0" tIns="0" rIns="0" bIns="0" rtlCol="0" anchor="t"/>
          <a:lstStyle/>
          <a:p>
            <a:pPr indent="0" marL="0">
              <a:buNone/>
            </a:pPr>
            <a:r>
              <a:rPr lang="en-US" sz="1600" i="1" dirty="0">
                <a:solidFill>
                  <a:schemeClr val="accent2"/>
                </a:solidFill>
              </a:rPr>
              <a:t>Today's high spending is a legacy of a high starting point, not runaway growth.</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rPr>
              <a:t>Leverett went from above its peers to below them</a:t>
            </a:r>
            <a:endParaRPr lang="en-US" sz="3200" dirty="0"/>
          </a:p>
        </p:txBody>
      </p:sp>
      <p:graphicFrame>
        <p:nvGraphicFramePr>
          <p:cNvPr id="3" name="Leverett real PPE chart" descr=""/>
          <p:cNvGraphicFramePr/>
          <p:nvPr/>
        </p:nvGraphicFramePr>
        <p:xfrm>
          <a:off x="548640" y="141732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callout rank"/>
          <p:cNvSpPr txBox="1"/>
          <p:nvPr/>
        </p:nvSpPr>
        <p:spPr>
          <a:xfrm>
            <a:off x="7955280" y="1554480"/>
            <a:ext cx="3657600" cy="96012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19 of 21</a:t>
            </a:r>
            <a:endParaRPr lang="en-US" sz="3000" dirty="0"/>
          </a:p>
          <a:p>
            <a:pPr indent="0" marL="0">
              <a:buNone/>
            </a:pPr>
            <a:r>
              <a:rPr lang="en-US" sz="1400" dirty="0">
                <a:solidFill>
                  <a:schemeClr val="tx1"/>
                </a:solidFill>
              </a:rPr>
              <a:t>Leverett's rank on FY2025 spending per pupil among districts with 200 or fewer students</a:t>
            </a:r>
            <a:endParaRPr lang="en-US" sz="3000" dirty="0"/>
          </a:p>
        </p:txBody>
      </p:sp>
      <p:sp>
        <p:nvSpPr>
          <p:cNvPr id="5" name="callout since 2014"/>
          <p:cNvSpPr txBox="1"/>
          <p:nvPr/>
        </p:nvSpPr>
        <p:spPr>
          <a:xfrm>
            <a:off x="7955280" y="2880360"/>
            <a:ext cx="3657600" cy="96012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−14%</a:t>
            </a:r>
            <a:endParaRPr lang="en-US" sz="3000" dirty="0"/>
          </a:p>
          <a:p>
            <a:pPr indent="0" marL="0">
              <a:buNone/>
            </a:pPr>
            <a:r>
              <a:rPr lang="en-US" sz="1400" dirty="0">
                <a:solidFill>
                  <a:schemeClr val="tx1"/>
                </a:solidFill>
              </a:rPr>
              <a:t>Change in Leverett's spending per pupil since 2014, after inflation</a:t>
            </a:r>
            <a:endParaRPr lang="en-US" sz="3000" dirty="0"/>
          </a:p>
        </p:txBody>
      </p:sp>
      <p:sp>
        <p:nvSpPr>
          <p:cNvPr id="6" name="callout enrollment"/>
          <p:cNvSpPr txBox="1"/>
          <p:nvPr/>
        </p:nvSpPr>
        <p:spPr>
          <a:xfrm>
            <a:off x="7955280" y="4206240"/>
            <a:ext cx="3657600" cy="96012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162 → 124 → 137</a:t>
            </a:r>
            <a:endParaRPr lang="en-US" sz="3000" dirty="0"/>
          </a:p>
          <a:p>
            <a:pPr indent="0" marL="0">
              <a:buNone/>
            </a:pPr>
            <a:r>
              <a:rPr lang="en-US" sz="1400" dirty="0">
                <a:solidFill>
                  <a:schemeClr val="tx1"/>
                </a:solidFill>
              </a:rPr>
              <a:t>Students at Leverett Elementary, 2009, 2014 and 2025, residents and school-choice students together</a:t>
            </a:r>
            <a:endParaRPr lang="en-US" sz="3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rPr>
              <a:t>Lower teacher pay has held Leverett's costs down</a:t>
            </a:r>
            <a:endParaRPr lang="en-US" sz="3200" dirty="0"/>
          </a:p>
        </p:txBody>
      </p:sp>
      <p:graphicFrame>
        <p:nvGraphicFramePr>
          <p:cNvPr id="3" name="teacher salary chart" descr=""/>
          <p:cNvGraphicFramePr/>
          <p:nvPr/>
        </p:nvGraphicFramePr>
        <p:xfrm>
          <a:off x="548640" y="141732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callout pay gap"/>
          <p:cNvSpPr txBox="1"/>
          <p:nvPr/>
        </p:nvSpPr>
        <p:spPr>
          <a:xfrm>
            <a:off x="7955280" y="1554480"/>
            <a:ext cx="3657600" cy="96012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$9,479</a:t>
            </a:r>
            <a:endParaRPr lang="en-US" sz="3000" dirty="0"/>
          </a:p>
          <a:p>
            <a:pPr indent="0" marL="0">
              <a:buNone/>
            </a:pPr>
            <a:r>
              <a:rPr lang="en-US" sz="1400" dirty="0">
                <a:solidFill>
                  <a:schemeClr val="tx1"/>
                </a:solidFill>
              </a:rPr>
              <a:t>Below the average teacher salary in districts with 200 or fewer students, FY2025</a:t>
            </a:r>
            <a:endParaRPr lang="en-US" sz="3000" dirty="0"/>
          </a:p>
        </p:txBody>
      </p:sp>
      <p:sp>
        <p:nvSpPr>
          <p:cNvPr id="5" name="callout aid"/>
          <p:cNvSpPr txBox="1"/>
          <p:nvPr/>
        </p:nvSpPr>
        <p:spPr>
          <a:xfrm>
            <a:off x="7955280" y="2880360"/>
            <a:ext cx="3657600" cy="96012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$3,885 vs $5,729</a:t>
            </a:r>
            <a:endParaRPr lang="en-US" sz="3000" dirty="0"/>
          </a:p>
          <a:p>
            <a:pPr indent="0" marL="0">
              <a:buNone/>
            </a:pPr>
            <a:r>
              <a:rPr lang="en-US" sz="1400" dirty="0">
                <a:solidFill>
                  <a:schemeClr val="tx1"/>
                </a:solidFill>
              </a:rPr>
              <a:t>State Chapter 70 aid per pupil: Leverett vs districts with 200 or fewer students</a:t>
            </a:r>
            <a:endParaRPr lang="en-US" sz="3000" dirty="0"/>
          </a:p>
        </p:txBody>
      </p:sp>
      <p:sp>
        <p:nvSpPr>
          <p:cNvPr id="6" name="takeaway"/>
          <p:cNvSpPr txBox="1"/>
          <p:nvPr/>
        </p:nvSpPr>
        <p:spPr>
          <a:xfrm>
            <a:off x="7955280" y="4206240"/>
            <a:ext cx="3657600" cy="1463040"/>
          </a:xfrm>
          <a:prstGeom prst="rect">
            <a:avLst/>
          </a:prstGeom>
          <a:noFill/>
          <a:ln/>
        </p:spPr>
        <p:txBody>
          <a:bodyPr wrap="square" lIns="0" tIns="0" rIns="0" bIns="0" rtlCol="0" anchor="t"/>
          <a:lstStyle/>
          <a:p>
            <a:pPr indent="0" marL="0">
              <a:buNone/>
            </a:pPr>
            <a:r>
              <a:rPr lang="en-US" sz="1600" i="1" dirty="0">
                <a:solidFill>
                  <a:schemeClr val="accent2"/>
                </a:solidFill>
              </a:rPr>
              <a:t>The town carries more of the cost, and its educators absorb part of it in pay. The structural fix sits with the state's funding formula.</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Leverett Forum">
      <a:dk1>
        <a:srgbClr val="1F2A2E"/>
      </a:dk1>
      <a:lt1>
        <a:srgbClr val="FFFFFF"/>
      </a:lt1>
      <a:dk2>
        <a:srgbClr val="23423A"/>
      </a:dk2>
      <a:lt2>
        <a:srgbClr val="EEF2EF"/>
      </a:lt2>
      <a:accent1>
        <a:srgbClr val="C8553D"/>
      </a:accent1>
      <a:accent2>
        <a:srgbClr val="2F6F62"/>
      </a:accent2>
      <a:accent3>
        <a:srgbClr val="9DB5AC"/>
      </a:accent3>
      <a:accent4>
        <a:srgbClr val="E0A458"/>
      </a:accent4>
      <a:accent5>
        <a:srgbClr val="5B6C8F"/>
      </a:accent5>
      <a:accent6>
        <a:srgbClr val="7A8580"/>
      </a:accent6>
      <a:hlink>
        <a:srgbClr val="2F6F62"/>
      </a:hlink>
      <a:folHlink>
        <a:srgbClr val="5B6C8F"/>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Leverett school spending in context</dc:title>
  <dc:subject>PptxGenJS Presentation</dc:subject>
  <dc:creator>Tim Shores</dc:creator>
  <cp:lastModifiedBy>Tim Shores</cp:lastModifiedBy>
  <cp:revision>1</cp:revision>
  <dcterms:created xsi:type="dcterms:W3CDTF">2026-10-19T00:15:14Z</dcterms:created>
  <dcterms:modified xsi:type="dcterms:W3CDTF">2026-10-19T00:15:14Z</dcterms:modified>
</cp:coreProperties>
</file>