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30535d5-fa7e-7562-683f-7d6400440266}">
          <p14:sldIdLst>
            <p14:sldId id="256"/>
          </p14:sldIdLst>
        </p14:section>
        <p14:section name="Western MA" id="{41960ecd-6e5f-5e75-6f28-32625c2df08a}">
          <p14:sldIdLst>
            <p14:sldId id="257"/>
          </p14:sldIdLst>
        </p14:section>
        <p14:section name="ARPS" id="{5894aa99-1f8c-facd-3965-7fac98fd0cf3}">
          <p14:sldIdLst>
            <p14:sldId id="258"/>
          </p14:sldIdLst>
        </p14:section>
        <p14:section name="Inflation" id="{02d08199-f3fc-612d-6b41-684629d9c2fd}">
          <p14:sldIdLst>
            <p14:sldId id="259"/>
          </p14:sldIdLst>
        </p14:section>
        <p14:section name="Leverett" id="{deea18c2-4869-e53b-c9ff-b758b3cacf07}">
          <p14:sldIdLst>
            <p14:sldId id="260"/>
          </p14:sldIdLst>
        </p14:section>
        <p14:section name="Pay and funding" id="{768b1f3c-e02b-44ad-4f76-9941207d5072}">
          <p14:sldIdLst>
            <p14:sldId id="261"/>
          </p14:sldIdLst>
        </p14:section>
        <p14:section name="Town budget" id="{bc3c45d4-d210-30e8-2f11-52a574aa76ab}">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Spending per pupil, nominal dollars</a:t>
            </a:r>
          </a:p>
        </c:rich>
      </c:tx>
      <c:layout/>
      <c:overlay val="0"/>
    </c:title>
    <c:autoTitleDeleted val="0"/>
    <c:plotArea>
      <c:layout/>
      <c:lineChart>
        <c:varyColors val="0"/>
        <c:ser>
          <c:idx val="0"/>
          <c:order val="0"/>
          <c:tx>
            <c:strRef>
              <c:f>Sheet1!$B$1</c:f>
              <c:strCache>
                <c:ptCount val="1"/>
                <c:pt idx="0">
                  <c:v>Districts with 200 or fewer students (21)</c:v>
                </c:pt>
              </c:strCache>
            </c:strRef>
          </c:tx>
          <c:spPr>
            <a:solidFill>
              <a:srgbClr val="2F6F62"/>
            </a:solidFill>
            <a:ln w="38100" cap="flat">
              <a:solidFill>
                <a:srgbClr val="2F6F62"/>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F6F62"/>
              </a:solidFill>
              <a:ln w="9525" cap="flat">
                <a:solidFill>
                  <a:srgbClr val="2F6F62"/>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Sheet1!$B$2:$B$18</c:f>
              <c:numCache>
                <c:formatCode>General</c:formatCode>
                <c:ptCount val="17"/>
                <c:pt idx="0">
                  <c:v>14066</c:v>
                </c:pt>
                <c:pt idx="1">
                  <c:v>14529</c:v>
                </c:pt>
                <c:pt idx="2">
                  <c:v>15258.7</c:v>
                </c:pt>
                <c:pt idx="3">
                  <c:v>15436</c:v>
                </c:pt>
                <c:pt idx="4">
                  <c:v>16159.5</c:v>
                </c:pt>
                <c:pt idx="5">
                  <c:v>17195.7</c:v>
                </c:pt>
                <c:pt idx="6">
                  <c:v>17657.2</c:v>
                </c:pt>
                <c:pt idx="7">
                  <c:v>18022.9</c:v>
                </c:pt>
                <c:pt idx="8">
                  <c:v>19072.4</c:v>
                </c:pt>
                <c:pt idx="9">
                  <c:v>18975.1</c:v>
                </c:pt>
                <c:pt idx="10">
                  <c:v>20236.1</c:v>
                </c:pt>
                <c:pt idx="11">
                  <c:v>20659.4</c:v>
                </c:pt>
                <c:pt idx="12">
                  <c:v>24309.1</c:v>
                </c:pt>
                <c:pt idx="13">
                  <c:v>23916.4</c:v>
                </c:pt>
                <c:pt idx="14">
                  <c:v>24669.7</c:v>
                </c:pt>
                <c:pt idx="15">
                  <c:v>26578</c:v>
                </c:pt>
                <c:pt idx="16">
                  <c:v>28924.4</c:v>
                </c:pt>
              </c:numCache>
            </c:numRef>
          </c:val>
          <c:smooth val="0"/>
        </c:ser>
        <c:ser>
          <c:idx val="1"/>
          <c:order val="1"/>
          <c:tx>
            <c:strRef>
              <c:f>Sheet1!$C$1</c:f>
              <c:strCache>
                <c:ptCount val="1"/>
                <c:pt idx="0">
                  <c:v>All Western MA districts (64)</c:v>
                </c:pt>
              </c:strCache>
            </c:strRef>
          </c:tx>
          <c:spPr>
            <a:solidFill>
              <a:srgbClr val="7A8580"/>
            </a:solidFill>
            <a:ln w="38100" cap="flat">
              <a:solidFill>
                <a:srgbClr val="7A858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7A8580"/>
              </a:solidFill>
              <a:ln w="9525" cap="flat">
                <a:solidFill>
                  <a:srgbClr val="7A8580"/>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Sheet1!$C$2:$C$18</c:f>
              <c:numCache>
                <c:formatCode>General</c:formatCode>
                <c:ptCount val="17"/>
                <c:pt idx="0">
                  <c:v>12210.4</c:v>
                </c:pt>
                <c:pt idx="1">
                  <c:v>12417.4</c:v>
                </c:pt>
                <c:pt idx="2">
                  <c:v>12840.2</c:v>
                </c:pt>
                <c:pt idx="3">
                  <c:v>13037.6</c:v>
                </c:pt>
                <c:pt idx="4">
                  <c:v>13503.4</c:v>
                </c:pt>
                <c:pt idx="5">
                  <c:v>14011.5</c:v>
                </c:pt>
                <c:pt idx="6">
                  <c:v>14446.9</c:v>
                </c:pt>
                <c:pt idx="7">
                  <c:v>14979.6</c:v>
                </c:pt>
                <c:pt idx="8">
                  <c:v>15318.7</c:v>
                </c:pt>
                <c:pt idx="9">
                  <c:v>15771.3</c:v>
                </c:pt>
                <c:pt idx="10">
                  <c:v>16456.8</c:v>
                </c:pt>
                <c:pt idx="11">
                  <c:v>16784.6</c:v>
                </c:pt>
                <c:pt idx="12">
                  <c:v>18312.3</c:v>
                </c:pt>
                <c:pt idx="13">
                  <c:v>19538.9</c:v>
                </c:pt>
                <c:pt idx="14">
                  <c:v>21029.8</c:v>
                </c:pt>
                <c:pt idx="15">
                  <c:v>22041.2</c:v>
                </c:pt>
                <c:pt idx="16">
                  <c:v>22975.6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tickLblSkip val="2"/>
      </c:catAx>
      <c:valAx>
        <c:axId val="2094734552"/>
        <c:scaling>
          <c:orientation val="minMax"/>
          <c:min val="0"/>
        </c:scaling>
        <c:delete val="0"/>
        <c:axPos val="l"/>
        <c:majorGridlines>
          <c:spPr>
            <a:ln w="9525" cap="flat">
              <a:solidFill>
                <a:srgbClr val="D9DFDC"/>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Spending per pupil, nominal dollars</a:t>
            </a:r>
          </a:p>
        </c:rich>
      </c:tx>
      <c:layout/>
      <c:overlay val="0"/>
    </c:title>
    <c:autoTitleDeleted val="0"/>
    <c:plotArea>
      <c:layout/>
      <c:barChart>
        <c:barDir val="col"/>
        <c:grouping val="clustered"/>
        <c:varyColors val="0"/>
        <c:ser>
          <c:idx val="0"/>
          <c:order val="0"/>
          <c:tx>
            <c:strRef>
              <c:f>Sheet1!$B$1</c:f>
              <c:strCache>
                <c:ptCount val="1"/>
                <c:pt idx="0">
                  <c:v>FY2009</c:v>
                </c:pt>
              </c:strCache>
            </c:strRef>
          </c:tx>
          <c:spPr>
            <a:solidFill>
              <a:srgbClr val="9DB5AC"/>
            </a:solidFill>
            <a:effectLst/>
          </c:spPr>
          <c:invertIfNegative val="0"/>
          <c:dLbls>
            <c:numFmt formatCode="$#,##0,&quot;K&quot;" sourceLinked="0"/>
            <c:txPr>
              <a:bodyPr/>
              <a:lstStyle/>
              <a:p>
                <a:pPr>
                  <a:defRPr b="0" i="0" strike="noStrike" sz="1000" u="none">
                    <a:solidFill>
                      <a:srgbClr val="1F2A2E"/>
                    </a:solidFill>
                    <a:latin typeface="+mn-lt"/>
                  </a:defRPr>
                </a:pPr>
              </a:p>
            </c:txPr>
            <c:showLegendKey val="0"/>
            <c:showVal val="1"/>
            <c:showCatName val="0"/>
            <c:showSerName val="0"/>
            <c:showPercent val="0"/>
            <c:showBubbleSize val="0"/>
            <c:showLeaderLines val="0"/>
          </c:dLbls>
          <c:cat>
            <c:multiLvlStrRef>
              <c:f>Sheet1!$A$2:$A$8</c:f>
              <c:multiLvlStrCache>
                <c:ptCount val="7"/>
                <c:lvl>
                  <c:pt idx="0">
                    <c:v>Western MA</c:v>
                  </c:pt>
                  <c:pt idx="1">
                    <c:v>200 or fewer</c:v>
                  </c:pt>
                  <c:pt idx="2">
                    <c:v>A-P Regional</c:v>
                  </c:pt>
                  <c:pt idx="3">
                    <c:v>Amherst</c:v>
                  </c:pt>
                  <c:pt idx="4">
                    <c:v>Shutesbury</c:v>
                  </c:pt>
                  <c:pt idx="5">
                    <c:v>Pelham</c:v>
                  </c:pt>
                  <c:pt idx="6">
                    <c:v>Leverett</c:v>
                  </c:pt>
                </c:lvl>
              </c:multiLvlStrCache>
            </c:multiLvlStrRef>
          </c:cat>
          <c:val>
            <c:numRef>
              <c:f>Sheet1!$B$2:$B$8</c:f>
              <c:numCache>
                <c:formatCode>General</c:formatCode>
                <c:ptCount val="7"/>
                <c:pt idx="0">
                  <c:v>12210.4</c:v>
                </c:pt>
                <c:pt idx="1">
                  <c:v>14066</c:v>
                </c:pt>
                <c:pt idx="2">
                  <c:v>16211</c:v>
                </c:pt>
                <c:pt idx="3">
                  <c:v>16029</c:v>
                </c:pt>
                <c:pt idx="4">
                  <c:v>14011</c:v>
                </c:pt>
                <c:pt idx="5">
                  <c:v>14733</c:v>
                </c:pt>
                <c:pt idx="6">
                  <c:v>15156</c:v>
                </c:pt>
              </c:numCache>
            </c:numRef>
          </c:val>
        </c:ser>
        <c:ser>
          <c:idx val="1"/>
          <c:order val="1"/>
          <c:tx>
            <c:strRef>
              <c:f>Sheet1!$C$1</c:f>
              <c:strCache>
                <c:ptCount val="1"/>
                <c:pt idx="0">
                  <c:v>FY2025</c:v>
                </c:pt>
              </c:strCache>
            </c:strRef>
          </c:tx>
          <c:spPr>
            <a:solidFill>
              <a:srgbClr val="23423A"/>
            </a:solidFill>
            <a:effectLst/>
          </c:spPr>
          <c:invertIfNegative val="0"/>
          <c:dLbls>
            <c:numFmt formatCode="$#,##0,&quot;K&quot;" sourceLinked="0"/>
            <c:txPr>
              <a:bodyPr/>
              <a:lstStyle/>
              <a:p>
                <a:pPr>
                  <a:defRPr b="0" i="0" strike="noStrike" sz="1000" u="none">
                    <a:solidFill>
                      <a:srgbClr val="1F2A2E"/>
                    </a:solidFill>
                    <a:latin typeface="+mn-lt"/>
                  </a:defRPr>
                </a:pPr>
              </a:p>
            </c:txPr>
            <c:showLegendKey val="0"/>
            <c:showVal val="1"/>
            <c:showCatName val="0"/>
            <c:showSerName val="0"/>
            <c:showPercent val="0"/>
            <c:showBubbleSize val="0"/>
            <c:showLeaderLines val="0"/>
          </c:dLbls>
          <c:cat>
            <c:multiLvlStrRef>
              <c:f>Sheet1!$A$2:$A$8</c:f>
              <c:multiLvlStrCache>
                <c:ptCount val="7"/>
                <c:lvl>
                  <c:pt idx="0">
                    <c:v>Western MA</c:v>
                  </c:pt>
                  <c:pt idx="1">
                    <c:v>200 or fewer</c:v>
                  </c:pt>
                  <c:pt idx="2">
                    <c:v>A-P Regional</c:v>
                  </c:pt>
                  <c:pt idx="3">
                    <c:v>Amherst</c:v>
                  </c:pt>
                  <c:pt idx="4">
                    <c:v>Shutesbury</c:v>
                  </c:pt>
                  <c:pt idx="5">
                    <c:v>Pelham</c:v>
                  </c:pt>
                  <c:pt idx="6">
                    <c:v>Leverett</c:v>
                  </c:pt>
                </c:lvl>
              </c:multiLvlStrCache>
            </c:multiLvlStrRef>
          </c:cat>
          <c:val>
            <c:numRef>
              <c:f>Sheet1!$C$2:$C$8</c:f>
              <c:numCache>
                <c:formatCode>General</c:formatCode>
                <c:ptCount val="7"/>
                <c:pt idx="0">
                  <c:v>22975.6</c:v>
                </c:pt>
                <c:pt idx="1">
                  <c:v>28924.4</c:v>
                </c:pt>
                <c:pt idx="2">
                  <c:v>27899</c:v>
                </c:pt>
                <c:pt idx="3">
                  <c:v>29984</c:v>
                </c:pt>
                <c:pt idx="4">
                  <c:v>27389</c:v>
                </c:pt>
                <c:pt idx="5">
                  <c:v>21573</c:v>
                </c:pt>
                <c:pt idx="6">
                  <c:v>23732</c:v>
                </c:pt>
              </c:numCache>
            </c:numRef>
          </c:val>
        </c:ser>
        <c:dLbls>
          <c:numFmt formatCode="$#,##0,&quot;K&quot;" sourceLinked="0"/>
          <c:txPr>
            <a:bodyPr/>
            <a:lstStyle/>
            <a:p>
              <a:pPr>
                <a:defRPr b="0" i="0" strike="noStrike" sz="1000" u="none">
                  <a:solidFill>
                    <a:srgbClr val="1F2A2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9DFDC"/>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Spending per pupil: as spent, and restated in today's dollars</a:t>
            </a:r>
          </a:p>
        </c:rich>
      </c:tx>
      <c:layout/>
      <c:overlay val="0"/>
    </c:title>
    <c:autoTitleDeleted val="0"/>
    <c:plotArea>
      <c:layout/>
      <c:barChart>
        <c:barDir val="col"/>
        <c:grouping val="clustered"/>
        <c:varyColors val="0"/>
        <c:ser>
          <c:idx val="0"/>
          <c:order val="0"/>
          <c:tx>
            <c:strRef>
              <c:f>Sheet1!$B$1</c:f>
              <c:strCache>
                <c:ptCount val="1"/>
                <c:pt idx="0">
                  <c:v>FY2009, as spent</c:v>
                </c:pt>
              </c:strCache>
            </c:strRef>
          </c:tx>
          <c:spPr>
            <a:solidFill>
              <a:srgbClr val="9DB5AC"/>
            </a:solidFill>
            <a:effectLst/>
          </c:spPr>
          <c:invertIfNegative val="0"/>
          <c:dLbls>
            <c:numFmt formatCode="$#,##0" sourceLinked="0"/>
            <c:txPr>
              <a:bodyPr/>
              <a:lstStyle/>
              <a:p>
                <a:pPr>
                  <a:defRPr b="0" i="0" strike="noStrike" sz="1100" u="none">
                    <a:solidFill>
                      <a:srgbClr val="1F2A2E"/>
                    </a:solidFill>
                    <a:latin typeface="+mn-lt"/>
                  </a:defRPr>
                </a:pPr>
              </a:p>
            </c:txPr>
            <c:showLegendKey val="0"/>
            <c:showVal val="1"/>
            <c:showCatName val="0"/>
            <c:showSerName val="0"/>
            <c:showPercent val="0"/>
            <c:showBubbleSize val="0"/>
            <c:showLeaderLines val="0"/>
          </c:dLbls>
          <c:cat>
            <c:multiLvlStrRef>
              <c:f>Sheet1!$A$2:$A$3</c:f>
              <c:multiLvlStrCache>
                <c:ptCount val="2"/>
                <c:lvl>
                  <c:pt idx="0">
                    <c:v>Leverett</c:v>
                  </c:pt>
                  <c:pt idx="1">
                    <c:v>Amherst-Pelham Regional</c:v>
                  </c:pt>
                </c:lvl>
              </c:multiLvlStrCache>
            </c:multiLvlStrRef>
          </c:cat>
          <c:val>
            <c:numRef>
              <c:f>Sheet1!$B$2:$B$3</c:f>
              <c:numCache>
                <c:formatCode>General</c:formatCode>
                <c:ptCount val="2"/>
                <c:pt idx="0">
                  <c:v>15156</c:v>
                </c:pt>
                <c:pt idx="1">
                  <c:v>16211</c:v>
                </c:pt>
              </c:numCache>
            </c:numRef>
          </c:val>
        </c:ser>
        <c:ser>
          <c:idx val="1"/>
          <c:order val="1"/>
          <c:tx>
            <c:strRef>
              <c:f>Sheet1!$C$1</c:f>
              <c:strCache>
                <c:ptCount val="1"/>
                <c:pt idx="0">
                  <c:v>FY2009 in FY2025 dollars</c:v>
                </c:pt>
              </c:strCache>
            </c:strRef>
          </c:tx>
          <c:spPr>
            <a:solidFill>
              <a:srgbClr val="E0A458"/>
            </a:solidFill>
            <a:effectLst/>
          </c:spPr>
          <c:invertIfNegative val="0"/>
          <c:dLbls>
            <c:numFmt formatCode="$#,##0" sourceLinked="0"/>
            <c:txPr>
              <a:bodyPr/>
              <a:lstStyle/>
              <a:p>
                <a:pPr>
                  <a:defRPr b="0" i="0" strike="noStrike" sz="1100" u="none">
                    <a:solidFill>
                      <a:srgbClr val="1F2A2E"/>
                    </a:solidFill>
                    <a:latin typeface="+mn-lt"/>
                  </a:defRPr>
                </a:pPr>
              </a:p>
            </c:txPr>
            <c:showLegendKey val="0"/>
            <c:showVal val="1"/>
            <c:showCatName val="0"/>
            <c:showSerName val="0"/>
            <c:showPercent val="0"/>
            <c:showBubbleSize val="0"/>
            <c:showLeaderLines val="0"/>
          </c:dLbls>
          <c:cat>
            <c:multiLvlStrRef>
              <c:f>Sheet1!$A$2:$A$3</c:f>
              <c:multiLvlStrCache>
                <c:ptCount val="2"/>
                <c:lvl>
                  <c:pt idx="0">
                    <c:v>Leverett</c:v>
                  </c:pt>
                  <c:pt idx="1">
                    <c:v>Amherst-Pelham Regional</c:v>
                  </c:pt>
                </c:lvl>
              </c:multiLvlStrCache>
            </c:multiLvlStrRef>
          </c:cat>
          <c:val>
            <c:numRef>
              <c:f>Sheet1!$C$2:$C$3</c:f>
              <c:numCache>
                <c:formatCode>General</c:formatCode>
                <c:ptCount val="2"/>
                <c:pt idx="0">
                  <c:v>21806.3</c:v>
                </c:pt>
                <c:pt idx="1">
                  <c:v>23324.2</c:v>
                </c:pt>
              </c:numCache>
            </c:numRef>
          </c:val>
        </c:ser>
        <c:ser>
          <c:idx val="2"/>
          <c:order val="2"/>
          <c:tx>
            <c:strRef>
              <c:f>Sheet1!$D$1</c:f>
              <c:strCache>
                <c:ptCount val="1"/>
                <c:pt idx="0">
                  <c:v>FY2025</c:v>
                </c:pt>
              </c:strCache>
            </c:strRef>
          </c:tx>
          <c:spPr>
            <a:solidFill>
              <a:srgbClr val="23423A"/>
            </a:solidFill>
            <a:effectLst/>
          </c:spPr>
          <c:invertIfNegative val="0"/>
          <c:dLbls>
            <c:numFmt formatCode="$#,##0" sourceLinked="0"/>
            <c:txPr>
              <a:bodyPr/>
              <a:lstStyle/>
              <a:p>
                <a:pPr>
                  <a:defRPr b="0" i="0" strike="noStrike" sz="1100" u="none">
                    <a:solidFill>
                      <a:srgbClr val="1F2A2E"/>
                    </a:solidFill>
                    <a:latin typeface="+mn-lt"/>
                  </a:defRPr>
                </a:pPr>
              </a:p>
            </c:txPr>
            <c:showLegendKey val="0"/>
            <c:showVal val="1"/>
            <c:showCatName val="0"/>
            <c:showSerName val="0"/>
            <c:showPercent val="0"/>
            <c:showBubbleSize val="0"/>
            <c:showLeaderLines val="0"/>
          </c:dLbls>
          <c:cat>
            <c:multiLvlStrRef>
              <c:f>Sheet1!$A$2:$A$3</c:f>
              <c:multiLvlStrCache>
                <c:ptCount val="2"/>
                <c:lvl>
                  <c:pt idx="0">
                    <c:v>Leverett</c:v>
                  </c:pt>
                  <c:pt idx="1">
                    <c:v>Amherst-Pelham Regional</c:v>
                  </c:pt>
                </c:lvl>
              </c:multiLvlStrCache>
            </c:multiLvlStrRef>
          </c:cat>
          <c:val>
            <c:numRef>
              <c:f>Sheet1!$D$2:$D$3</c:f>
              <c:numCache>
                <c:formatCode>General</c:formatCode>
                <c:ptCount val="2"/>
                <c:pt idx="0">
                  <c:v>23732</c:v>
                </c:pt>
                <c:pt idx="1">
                  <c:v>27899</c:v>
                </c:pt>
              </c:numCache>
            </c:numRef>
          </c:val>
        </c:ser>
        <c:dLbls>
          <c:numFmt formatCode="$#,##0" sourceLinked="0"/>
          <c:txPr>
            <a:bodyPr/>
            <a:lstStyle/>
            <a:p>
              <a:pPr>
                <a:defRPr b="0" i="0" strike="noStrike" sz="1100" u="none">
                  <a:solidFill>
                    <a:srgbClr val="1F2A2E"/>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9DFDC"/>
            </a:solidFill>
            <a:prstDash val="solid"/>
            <a:round/>
          </a:ln>
        </c:spPr>
        <c:txPr>
          <a:bodyPr/>
          <a:lstStyle/>
          <a:p>
            <a:pPr>
              <a:defRPr sz="1300" b="0" i="0" u="none" strike="noStrike">
                <a:solidFill>
                  <a:srgbClr val="5E6B66"/>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9DFDC"/>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Spending per pupil in FY2025 dollars (adjusted for inflation)</a:t>
            </a:r>
          </a:p>
        </c:rich>
      </c:tx>
      <c:layout/>
      <c:overlay val="0"/>
    </c:title>
    <c:autoTitleDeleted val="0"/>
    <c:plotArea>
      <c:layout/>
      <c:lineChart>
        <c:varyColors val="0"/>
        <c:ser>
          <c:idx val="0"/>
          <c:order val="0"/>
          <c:tx>
            <c:strRef>
              <c:f>Sheet1!$B$1</c:f>
              <c:strCache>
                <c:ptCount val="1"/>
                <c:pt idx="0">
                  <c:v>Leverett</c:v>
                </c:pt>
              </c:strCache>
            </c:strRef>
          </c:tx>
          <c:spPr>
            <a:solidFill>
              <a:srgbClr val="C8553D"/>
            </a:solidFill>
            <a:ln w="38100" cap="flat">
              <a:solidFill>
                <a:srgbClr val="C8553D"/>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8553D"/>
              </a:solidFill>
              <a:ln w="9525" cap="flat">
                <a:solidFill>
                  <a:srgbClr val="C8553D"/>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Sheet1!$B$2:$B$18</c:f>
              <c:numCache>
                <c:formatCode>General</c:formatCode>
                <c:ptCount val="17"/>
                <c:pt idx="0">
                  <c:v>21806.3</c:v>
                </c:pt>
                <c:pt idx="1">
                  <c:v>20524.5</c:v>
                </c:pt>
                <c:pt idx="2">
                  <c:v>21163.2</c:v>
                </c:pt>
                <c:pt idx="3">
                  <c:v>23514</c:v>
                </c:pt>
                <c:pt idx="4">
                  <c:v>23070.5</c:v>
                </c:pt>
                <c:pt idx="5">
                  <c:v>27496.1</c:v>
                </c:pt>
                <c:pt idx="6">
                  <c:v>25181.9</c:v>
                </c:pt>
                <c:pt idx="7">
                  <c:v>23845.2</c:v>
                </c:pt>
                <c:pt idx="8">
                  <c:v>23703.2</c:v>
                </c:pt>
                <c:pt idx="9">
                  <c:v>25746.8</c:v>
                </c:pt>
                <c:pt idx="10">
                  <c:v>24515.3</c:v>
                </c:pt>
                <c:pt idx="11">
                  <c:v>23191.2</c:v>
                </c:pt>
                <c:pt idx="12">
                  <c:v>29035.6</c:v>
                </c:pt>
                <c:pt idx="13">
                  <c:v>23622.4</c:v>
                </c:pt>
                <c:pt idx="14">
                  <c:v>23186.6</c:v>
                </c:pt>
                <c:pt idx="15">
                  <c:v>22652.2</c:v>
                </c:pt>
                <c:pt idx="16">
                  <c:v>23732</c:v>
                </c:pt>
              </c:numCache>
            </c:numRef>
          </c:val>
          <c:smooth val="0"/>
        </c:ser>
        <c:ser>
          <c:idx val="1"/>
          <c:order val="1"/>
          <c:tx>
            <c:strRef>
              <c:f>Sheet1!$C$1</c:f>
              <c:strCache>
                <c:ptCount val="1"/>
                <c:pt idx="0">
                  <c:v>Districts with 200 or fewer students</c:v>
                </c:pt>
              </c:strCache>
            </c:strRef>
          </c:tx>
          <c:spPr>
            <a:solidFill>
              <a:srgbClr val="2F6F62"/>
            </a:solidFill>
            <a:ln w="38100" cap="flat">
              <a:solidFill>
                <a:srgbClr val="2F6F62"/>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2F6F62"/>
              </a:solidFill>
              <a:ln w="9525" cap="flat">
                <a:solidFill>
                  <a:srgbClr val="2F6F62"/>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Sheet1!$C$2:$C$18</c:f>
              <c:numCache>
                <c:formatCode>General</c:formatCode>
                <c:ptCount val="17"/>
                <c:pt idx="0">
                  <c:v>20238</c:v>
                </c:pt>
                <c:pt idx="1">
                  <c:v>20631</c:v>
                </c:pt>
                <c:pt idx="2">
                  <c:v>21236.6</c:v>
                </c:pt>
                <c:pt idx="3">
                  <c:v>20879.1</c:v>
                </c:pt>
                <c:pt idx="4">
                  <c:v>21523.5</c:v>
                </c:pt>
                <c:pt idx="5">
                  <c:v>22584.9</c:v>
                </c:pt>
                <c:pt idx="6">
                  <c:v>23089.8</c:v>
                </c:pt>
                <c:pt idx="7">
                  <c:v>23473.8</c:v>
                </c:pt>
                <c:pt idx="8">
                  <c:v>24420.7</c:v>
                </c:pt>
                <c:pt idx="9">
                  <c:v>23857.2</c:v>
                </c:pt>
                <c:pt idx="10">
                  <c:v>24971.9</c:v>
                </c:pt>
                <c:pt idx="11">
                  <c:v>25104.4</c:v>
                </c:pt>
                <c:pt idx="12">
                  <c:v>28977.4</c:v>
                </c:pt>
                <c:pt idx="13">
                  <c:v>26872.3</c:v>
                </c:pt>
                <c:pt idx="14">
                  <c:v>26269</c:v>
                </c:pt>
                <c:pt idx="15">
                  <c:v>27478.4</c:v>
                </c:pt>
                <c:pt idx="16">
                  <c:v>28924.4</c:v>
                </c:pt>
              </c:numCache>
            </c:numRef>
          </c:val>
          <c:smooth val="0"/>
        </c:ser>
        <c:ser>
          <c:idx val="2"/>
          <c:order val="2"/>
          <c:tx>
            <c:strRef>
              <c:f>Sheet1!$D$1</c:f>
              <c:strCache>
                <c:ptCount val="1"/>
                <c:pt idx="0">
                  <c:v>All Western MA districts</c:v>
                </c:pt>
              </c:strCache>
            </c:strRef>
          </c:tx>
          <c:spPr>
            <a:solidFill>
              <a:srgbClr val="7A8580"/>
            </a:solidFill>
            <a:ln w="38100" cap="flat">
              <a:solidFill>
                <a:srgbClr val="7A858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7A8580"/>
              </a:solidFill>
              <a:ln w="9525" cap="flat">
                <a:solidFill>
                  <a:srgbClr val="7A8580"/>
                </a:solidFill>
                <a:prstDash val="solid"/>
                <a:round/>
              </a:ln>
              <a:effectLst/>
            </c:spPr>
          </c:marker>
          <c:cat>
            <c:multiLvlStrRef>
              <c:f>Sheet1!$A$2:$A$18</c:f>
              <c:multiLvlStrCache>
                <c:ptCount val="17"/>
                <c:lvl>
                  <c:pt idx="0">
                    <c:v>2009</c:v>
                  </c:pt>
                  <c:pt idx="1">
                    <c:v>2010</c:v>
                  </c:pt>
                  <c:pt idx="2">
                    <c:v>2011</c:v>
                  </c:pt>
                  <c:pt idx="3">
                    <c:v>2012</c:v>
                  </c:pt>
                  <c:pt idx="4">
                    <c:v>2013</c:v>
                  </c:pt>
                  <c:pt idx="5">
                    <c:v>2014</c:v>
                  </c:pt>
                  <c:pt idx="6">
                    <c:v>2015</c:v>
                  </c:pt>
                  <c:pt idx="7">
                    <c:v>2016</c:v>
                  </c:pt>
                  <c:pt idx="8">
                    <c:v>2017</c:v>
                  </c:pt>
                  <c:pt idx="9">
                    <c:v>2018</c:v>
                  </c:pt>
                  <c:pt idx="10">
                    <c:v>2019</c:v>
                  </c:pt>
                  <c:pt idx="11">
                    <c:v>2020</c:v>
                  </c:pt>
                  <c:pt idx="12">
                    <c:v>2021</c:v>
                  </c:pt>
                  <c:pt idx="13">
                    <c:v>2022</c:v>
                  </c:pt>
                  <c:pt idx="14">
                    <c:v>2023</c:v>
                  </c:pt>
                  <c:pt idx="15">
                    <c:v>2024</c:v>
                  </c:pt>
                  <c:pt idx="16">
                    <c:v>2025</c:v>
                  </c:pt>
                </c:lvl>
              </c:multiLvlStrCache>
            </c:multiLvlStrRef>
          </c:cat>
          <c:val>
            <c:numRef>
              <c:f>Sheet1!$D$2:$D$18</c:f>
              <c:numCache>
                <c:formatCode>General</c:formatCode>
                <c:ptCount val="17"/>
                <c:pt idx="0">
                  <c:v>17568.2</c:v>
                </c:pt>
                <c:pt idx="1">
                  <c:v>17632.6</c:v>
                </c:pt>
                <c:pt idx="2">
                  <c:v>17870.5</c:v>
                </c:pt>
                <c:pt idx="3">
                  <c:v>17634.9</c:v>
                </c:pt>
                <c:pt idx="4">
                  <c:v>17985.7</c:v>
                </c:pt>
                <c:pt idx="5">
                  <c:v>18402.8</c:v>
                </c:pt>
                <c:pt idx="6">
                  <c:v>18891.8</c:v>
                </c:pt>
                <c:pt idx="7">
                  <c:v>19510.1</c:v>
                </c:pt>
                <c:pt idx="8">
                  <c:v>19614.4</c:v>
                </c:pt>
                <c:pt idx="9">
                  <c:v>19829.1</c:v>
                </c:pt>
                <c:pt idx="10">
                  <c:v>20308.2</c:v>
                </c:pt>
                <c:pt idx="11">
                  <c:v>20395.8</c:v>
                </c:pt>
                <c:pt idx="12">
                  <c:v>21829</c:v>
                </c:pt>
                <c:pt idx="13">
                  <c:v>21953.8</c:v>
                </c:pt>
                <c:pt idx="14">
                  <c:v>22393.1</c:v>
                </c:pt>
                <c:pt idx="15">
                  <c:v>22787.9</c:v>
                </c:pt>
                <c:pt idx="16">
                  <c:v>22975.6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tickLblSkip val="2"/>
      </c:catAx>
      <c:valAx>
        <c:axId val="2094734552"/>
        <c:scaling>
          <c:orientation val="minMax"/>
          <c:min val="0"/>
        </c:scaling>
        <c:delete val="0"/>
        <c:axPos val="l"/>
        <c:majorGridlines>
          <c:spPr>
            <a:ln w="9525" cap="flat">
              <a:solidFill>
                <a:srgbClr val="D9DFDC"/>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F2A2E"/>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Average teacher salary, FY2025</a:t>
            </a:r>
          </a:p>
        </c:rich>
      </c:tx>
      <c:layout/>
      <c:overlay val="0"/>
    </c:title>
    <c:autoTitleDeleted val="0"/>
    <c:plotArea>
      <c:layout/>
      <c:barChart>
        <c:barDir val="bar"/>
        <c:grouping val="clustered"/>
        <c:varyColors val="0"/>
        <c:ser>
          <c:idx val="0"/>
          <c:order val="0"/>
          <c:tx>
            <c:strRef>
              <c:f>Sheet1!$B$1</c:f>
              <c:strCache>
                <c:ptCount val="1"/>
                <c:pt idx="0">
                  <c:v>Average teacher salary, FY2025</c:v>
                </c:pt>
              </c:strCache>
            </c:strRef>
          </c:tx>
          <c:spPr>
            <a:solidFill>
              <a:srgbClr val="2F6F62"/>
            </a:solidFill>
            <a:effectLst/>
          </c:spPr>
          <c:invertIfNegative val="0"/>
          <c:dLbls>
            <c:numFmt formatCode="$#,##0" sourceLinked="0"/>
            <c:txPr>
              <a:bodyPr/>
              <a:lstStyle/>
              <a:p>
                <a:pPr>
                  <a:defRPr b="0" i="0" strike="noStrike" sz="12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2F6F62"/>
              </a:solidFill>
              <a:effectLst/>
            </c:spPr>
          </c:dPt>
          <c:dPt>
            <c:idx val="1"/>
            <c:invertIfNegative val="0"/>
            <c:bubble3D val="0"/>
            <c:spPr>
              <a:solidFill>
                <a:srgbClr val="2F6F62"/>
              </a:solidFill>
              <a:effectLst/>
            </c:spPr>
          </c:dPt>
          <c:dPt>
            <c:idx val="2"/>
            <c:invertIfNegative val="0"/>
            <c:bubble3D val="0"/>
            <c:spPr>
              <a:solidFill>
                <a:srgbClr val="9DB5AC"/>
              </a:solidFill>
              <a:effectLst/>
            </c:spPr>
          </c:dPt>
          <c:dPt>
            <c:idx val="3"/>
            <c:invertIfNegative val="0"/>
            <c:bubble3D val="0"/>
            <c:spPr>
              <a:solidFill>
                <a:srgbClr val="2F6F62"/>
              </a:solidFill>
              <a:effectLst/>
            </c:spPr>
          </c:dPt>
          <c:dPt>
            <c:idx val="4"/>
            <c:invertIfNegative val="0"/>
            <c:bubble3D val="0"/>
            <c:spPr>
              <a:solidFill>
                <a:srgbClr val="2F6F62"/>
              </a:solidFill>
              <a:effectLst/>
            </c:spPr>
          </c:dPt>
          <c:dPt>
            <c:idx val="5"/>
            <c:invertIfNegative val="0"/>
            <c:bubble3D val="0"/>
            <c:spPr>
              <a:solidFill>
                <a:srgbClr val="9DB5AC"/>
              </a:solidFill>
              <a:effectLst/>
            </c:spPr>
          </c:dPt>
          <c:dPt>
            <c:idx val="6"/>
            <c:invertIfNegative val="0"/>
            <c:bubble3D val="0"/>
            <c:spPr>
              <a:solidFill>
                <a:srgbClr val="C8553D"/>
              </a:solidFill>
              <a:effectLst/>
            </c:spPr>
          </c:dPt>
          <c:cat>
            <c:multiLvlStrRef>
              <c:f>Sheet1!$A$2:$A$8</c:f>
              <c:multiLvlStrCache>
                <c:ptCount val="7"/>
                <c:lvl>
                  <c:pt idx="0">
                    <c:v>Amherst</c:v>
                  </c:pt>
                  <c:pt idx="1">
                    <c:v>Amherst-Pelham Reg.</c:v>
                  </c:pt>
                  <c:pt idx="2">
                    <c:v>Western MA</c:v>
                  </c:pt>
                  <c:pt idx="3">
                    <c:v>Pelham</c:v>
                  </c:pt>
                  <c:pt idx="4">
                    <c:v>Shutesbury</c:v>
                  </c:pt>
                  <c:pt idx="5">
                    <c:v>200 or fewer</c:v>
                  </c:pt>
                  <c:pt idx="6">
                    <c:v>Leverett</c:v>
                  </c:pt>
                </c:lvl>
              </c:multiLvlStrCache>
            </c:multiLvlStrRef>
          </c:cat>
          <c:val>
            <c:numRef>
              <c:f>Sheet1!$B$2:$B$8</c:f>
              <c:numCache>
                <c:formatCode>General</c:formatCode>
                <c:ptCount val="7"/>
                <c:pt idx="0">
                  <c:v>93272</c:v>
                </c:pt>
                <c:pt idx="1">
                  <c:v>86105</c:v>
                </c:pt>
                <c:pt idx="2">
                  <c:v>83851.2</c:v>
                </c:pt>
                <c:pt idx="3">
                  <c:v>75776</c:v>
                </c:pt>
                <c:pt idx="4">
                  <c:v>73238</c:v>
                </c:pt>
                <c:pt idx="5">
                  <c:v>72544.1</c:v>
                </c:pt>
                <c:pt idx="6">
                  <c:v>63065</c:v>
                </c:pt>
              </c:numCache>
            </c:numRef>
          </c:val>
        </c:ser>
        <c:dLbls>
          <c:numFmt formatCode="$#,##0" sourceLinked="0"/>
          <c:txPr>
            <a:bodyPr/>
            <a:lstStyle/>
            <a:p>
              <a:pPr>
                <a:defRPr b="0" i="0" strike="noStrike" sz="1200" u="none">
                  <a:solidFill>
                    <a:srgbClr val="1F2A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catAx>
      <c:valAx>
        <c:axId val="2094734552"/>
        <c:scaling>
          <c:orientation val="minMax"/>
          <c:max val="120000"/>
          <c:min val="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A2E"/>
                </a:solidFill>
                <a:latin typeface="+mn-lt"/>
              </a:defRPr>
            </a:pPr>
            <a:r>
              <a:rPr sz="1400" b="0" i="0" u="none" strike="noStrike">
                <a:solidFill>
                  <a:srgbClr val="1F2A2E"/>
                </a:solidFill>
                <a:latin typeface="+mn-lt"/>
              </a:rPr>
              <a:t>Education's share of town general fund spending, FY2025</a:t>
            </a:r>
          </a:p>
        </c:rich>
      </c:tx>
      <c:layout/>
      <c:overlay val="0"/>
    </c:title>
    <c:autoTitleDeleted val="0"/>
    <c:plotArea>
      <c:layout/>
      <c:barChart>
        <c:barDir val="bar"/>
        <c:grouping val="clustered"/>
        <c:varyColors val="0"/>
        <c:ser>
          <c:idx val="0"/>
          <c:order val="0"/>
          <c:tx>
            <c:strRef>
              <c:f>Sheet1!$B$1</c:f>
              <c:strCache>
                <c:ptCount val="1"/>
                <c:pt idx="0">
                  <c:v>Education's share of general fund spending, FY2025</c:v>
                </c:pt>
              </c:strCache>
            </c:strRef>
          </c:tx>
          <c:spPr>
            <a:solidFill>
              <a:srgbClr val="C8553D"/>
            </a:solidFill>
            <a:effectLst/>
          </c:spPr>
          <c:invertIfNegative val="0"/>
          <c:dLbls>
            <c:numFmt formatCode="0%" sourceLinked="0"/>
            <c:txPr>
              <a:bodyPr/>
              <a:lstStyle/>
              <a:p>
                <a:pPr>
                  <a:defRPr b="0" i="0" strike="noStrike" sz="1200" u="none">
                    <a:solidFill>
                      <a:srgbClr val="1F2A2E"/>
                    </a:solidFill>
                    <a:latin typeface="+mn-lt"/>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F6F62"/>
              </a:solidFill>
              <a:effectLst/>
            </c:spPr>
          </c:dPt>
          <c:dPt>
            <c:idx val="2"/>
            <c:invertIfNegative val="0"/>
            <c:bubble3D val="0"/>
            <c:spPr>
              <a:solidFill>
                <a:srgbClr val="2F6F62"/>
              </a:solidFill>
              <a:effectLst/>
            </c:spPr>
          </c:dPt>
          <c:dPt>
            <c:idx val="3"/>
            <c:invertIfNegative val="0"/>
            <c:bubble3D val="0"/>
            <c:spPr>
              <a:solidFill>
                <a:srgbClr val="2F6F62"/>
              </a:solidFill>
              <a:effectLst/>
            </c:spPr>
          </c:dPt>
          <c:dPt>
            <c:idx val="4"/>
            <c:invertIfNegative val="0"/>
            <c:bubble3D val="0"/>
            <c:spPr>
              <a:solidFill>
                <a:srgbClr val="9DB5AC"/>
              </a:solidFill>
              <a:effectLst/>
            </c:spPr>
          </c:dPt>
          <c:dPt>
            <c:idx val="5"/>
            <c:invertIfNegative val="0"/>
            <c:bubble3D val="0"/>
            <c:spPr>
              <a:solidFill>
                <a:srgbClr val="9DB5AC"/>
              </a:solidFill>
              <a:effectLst/>
            </c:spPr>
          </c:dPt>
          <c:cat>
            <c:multiLvlStrRef>
              <c:f>Sheet1!$A$2:$A$7</c:f>
              <c:multiLvlStrCache>
                <c:ptCount val="6"/>
                <c:lvl>
                  <c:pt idx="0">
                    <c:v>Leverett</c:v>
                  </c:pt>
                  <c:pt idx="1">
                    <c:v>Shutesbury</c:v>
                  </c:pt>
                  <c:pt idx="2">
                    <c:v>Pelham</c:v>
                  </c:pt>
                  <c:pt idx="3">
                    <c:v>Amherst</c:v>
                  </c:pt>
                  <c:pt idx="4">
                    <c:v>Towns of 1,000–2,499</c:v>
                  </c:pt>
                  <c:pt idx="5">
                    <c:v>All Western MA towns</c:v>
                  </c:pt>
                </c:lvl>
              </c:multiLvlStrCache>
            </c:multiLvlStrRef>
          </c:cat>
          <c:val>
            <c:numRef>
              <c:f>Sheet1!$B$2:$B$7</c:f>
              <c:numCache>
                <c:formatCode>General</c:formatCode>
                <c:ptCount val="6"/>
                <c:pt idx="0">
                  <c:v>0.6148</c:v>
                </c:pt>
                <c:pt idx="1">
                  <c:v>0.5923</c:v>
                </c:pt>
                <c:pt idx="2">
                  <c:v>0.5791</c:v>
                </c:pt>
                <c:pt idx="3">
                  <c:v>0.5346</c:v>
                </c:pt>
                <c:pt idx="4">
                  <c:v>0.4793</c:v>
                </c:pt>
                <c:pt idx="5">
                  <c:v>0.4637</c:v>
                </c:pt>
              </c:numCache>
            </c:numRef>
          </c:val>
        </c:ser>
        <c:dLbls>
          <c:numFmt formatCode="0%" sourceLinked="0"/>
          <c:txPr>
            <a:bodyPr/>
            <a:lstStyle/>
            <a:p>
              <a:pPr>
                <a:defRPr b="0" i="0" strike="noStrike" sz="1200" u="none">
                  <a:solidFill>
                    <a:srgbClr val="1F2A2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D9DFDC"/>
            </a:solidFill>
            <a:prstDash val="solid"/>
            <a:round/>
          </a:ln>
        </c:spPr>
        <c:txPr>
          <a:bodyPr/>
          <a:lstStyle/>
          <a:p>
            <a:pPr>
              <a:defRPr sz="1200" b="0" i="0" u="none" strike="noStrike">
                <a:solidFill>
                  <a:srgbClr val="5E6B66"/>
                </a:solidFill>
                <a:latin typeface="+mn-lt"/>
              </a:defRPr>
            </a:pPr>
            <a:endParaRPr lang="en-US"/>
          </a:p>
        </c:txPr>
        <c:crossAx val="2094734552"/>
        <c:crosses val="autoZero"/>
        <c:auto val="1"/>
        <c:lblAlgn val="ctr"/>
        <c:noMultiLvlLbl val="1"/>
      </c:catAx>
      <c:valAx>
        <c:axId val="2094734552"/>
        <c:scaling>
          <c:orientation val="minMax"/>
          <c:max val="0.8"/>
          <c:min val="0"/>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5E6B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Per-pupil expenditure (PPE) is a flawed lens on school budgets: one number hides student needs, buildings, governance and history. It is also the standard the state reports and the public uses, so it is worth understanding in full.
The comparison group is the 21 Western MA traditional districts with 200 or fewer in-district students in FY2025, the report's "Tiny" cohort definition. Leverett ranks 19 of 21 on FY2025 PPE.
Inflation uses the CPI-U for the Northeast, averaged over each July–June fiscal year.
Source: Western MA Per Pupil Expenditure Report, FY2009–FY2025 edition. As its "How this report was made" statement says, Tim designed the analysis and is responsible for it; Claude Code helped write the code and draft the text. This deck was built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Schools are labor-intensive: most of a budget is salaries and benefits, which follow regional labor markets rather than local revenue. Staffing minimums, buildings, transportation and special education services do not shrink in proportion to enrollment, so small districts spend more per pupil.
Western MA averages are weighted by enrollment; Springfield is excluded as an outlier. 64 traditional districts in FY2025.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main finding of the Western MA Per Pupil Expenditure Report: in 2009 the ARPS districts already spent well above regional averages, and ordinary growth applied to a high base keeps them above average. The question shifts from 'why are costs so high?' to 'how do we manage the system we have inherited at ordinary growth rates?'
Amherst-Pelham Regional: $16,211 to $27,899, 3.5% a year.
Amherst: $16,029 to $29,984, 4.0% a year.
Shutesbury: $14,011 to $27,389, 4.3% a year.
Leverett: $15,156 to $23,732, 2.8% a year.
Pelham: $14,733 to $21,573, 2.4%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it: the first bar is what each district spent per pupil in FY2009. The second is the same spending in FY2025 dollars, what it would take today to buy what that money bought then. The third is what the district spent in FY2025. The gap between the first two bars is inflation; only the gap between the last two is growth.
Leverett: $15,156 in FY2009 is $21,806 in FY2025 dollars, against $23,732 spent in FY2025. Inflation accounts for 78% of the increase. Amherst-Pelham Regional: $16,211, $23,324, $27,899; inflation is 61% of the increase.
Prices here are the CPI-U for the Northeast, averaged over each July–June fiscal year. The report's inflation addendum also uses the federal price index for what state and local governments buy, mostly labor; by that measure the real growth is smaller still.
The FY2025 dollars switch in the online explorer does this for every district and town: timshores.com/mass-school-spending.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2009 Leverett spent $15,156 per pupil, above the $14,066 average for the districts that are its size today. In FY2025 it spent $23,732, against $28,924.
When enrollment fell from 162 to 124, fixed costs were spread over fewer students and per-pupil spending jumped. Enrollment recovered, and since 2014 spending per pupil has grown 1.1% a year in nominal dollars, from $20,935 to $23,732: slower than prices, so it fell after inflation.
Enrollment here is DESE in-district FTE: Leverett residents plus school-choice students. Foundation enrollment, the residents the town pays for, was 105 in FY2025.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Average teacher salary is DESE's figure for each district. It reflects experience and credentials as well as pay scales, and with about 16 teachers Leverett's average moves with a few hires or retirements. FY2018 is the first year DESE reports it in this dataset.
Leverett: $56,975 in FY2018, $63,065 in FY2025. Districts its size: $63,498 to $72,544. Peer and Western MA averages are weighted by teacher FTE.
Leverett funds $10,788 per pupil above the state's required minimum (net school spending), against $11,843 for districts its size. Chapter 70 aid and net school spending are per foundation pupil, the residents the district pays for.
Closing point from the report: structural funding challenges will persist until the Commonwealth changes policy that no region, town or district can change alone. See Rural Schools MA and the July 2022 report A Sustainable Future for Rural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Leverett's town budget is about the size of similar towns' per resident ($4,029 against $4,116), and its residents pay about the same in taxes ($3,624 against $3,561). Within that budget, education takes 61%, against 48% for the 35 Western MA towns of 1,000–2,499 residents: $2,477 per resident against $1,973.
Education in Schedule A is the town's own school department plus its assessments from regional and vocational districts. Health insurance and pensions for a town's school employees usually sit in fixed costs instead, so education's true share is if anything larger.
What the state formula requires: in FY2025, Chapter 70 set Leverett's required local contribution at $1,083,930 to Leverett Elementary and $1,102,340 to Amherst-Pelham Regional.
Per-resident figures divide each town's FY2025 dollars by its Census population estimate (Leverett: 1,863). Every town is in the online explorer's Towns tab: timshores.com/mass-school-spending.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914400"/>
            <a:ext cx="6583680" cy="20116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154680"/>
            <a:ext cx="6400800" cy="118872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
        <p:nvSpPr>
          <p:cNvPr id="4" name="Text 0"/>
          <p:cNvSpPr/>
          <p:nvPr>
            <p:ph idx="102" type="body" hasCustomPrompt="1"/>
          </p:nvPr>
        </p:nvSpPr>
        <p:spPr>
          <a:xfrm>
            <a:off x="640080" y="5806440"/>
            <a:ext cx="7315200" cy="45720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hart and commentar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55080"/>
            <a:ext cx="10241280" cy="274320"/>
          </a:xfrm>
          <a:prstGeom prst="rect">
            <a:avLst/>
          </a:prstGeom>
          <a:noFill/>
          <a:ln/>
        </p:spPr>
        <p:txBody>
          <a:bodyPr wrap="square" lIns="0" tIns="0" rIns="0" bIns="0" rtlCol="0" anchor="ctr"/>
          <a:lstStyle/>
          <a:p>
            <a:pPr indent="0" marL="0">
              <a:buNone/>
            </a:pPr>
            <a:r>
              <a:rPr lang="en-US" sz="1000" dirty="0">
                <a:solidFill>
                  <a:schemeClr val="accent6"/>
                </a:solidFill>
              </a:rPr>
              <a:t>Data: Massachusetts DESE, FY2009–FY2025. Analysis: Tim Shores, with Claude Code. Report: timshores.com/portfolio · Explorer: timshores.com/mass-school-spending</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914400"/>
            <a:ext cx="6583680" cy="2011680"/>
          </a:xfrm>
          <a:prstGeom prst="rect">
            <a:avLst/>
          </a:prstGeom>
          <a:noFill/>
          <a:ln/>
        </p:spPr>
        <p:txBody>
          <a:bodyPr wrap="square" lIns="0" tIns="0" rIns="0" bIns="0" rtlCol="0" anchor="b"/>
          <a:lstStyle/>
          <a:p>
            <a:pPr algn="l" indent="0" marL="0">
              <a:buNone/>
            </a:pPr>
            <a:r>
              <a:rPr lang="en-US" sz="4000" b="1" dirty="0">
                <a:solidFill>
                  <a:schemeClr val="bg1"/>
                </a:solidFill>
              </a:rPr>
              <a:t>Leverett's school spending in context</a:t>
            </a:r>
            <a:endParaRPr lang="en-US" sz="4000" dirty="0"/>
          </a:p>
        </p:txBody>
      </p:sp>
      <p:sp>
        <p:nvSpPr>
          <p:cNvPr id="3" name="Text 0"/>
          <p:cNvSpPr/>
          <p:nvPr>
            <p:ph idx="101" type="body" hasCustomPrompt="1"/>
          </p:nvPr>
        </p:nvSpPr>
        <p:spPr>
          <a:xfrm>
            <a:off x="640080" y="3154680"/>
            <a:ext cx="6400800" cy="1188720"/>
          </a:xfrm>
          <a:prstGeom prst="rect">
            <a:avLst/>
          </a:prstGeom>
          <a:noFill/>
          <a:ln/>
        </p:spPr>
        <p:txBody>
          <a:bodyPr wrap="square" lIns="0" tIns="0" rIns="0" bIns="0" rtlCol="0" anchor="t"/>
          <a:lstStyle/>
          <a:p>
            <a:pPr indent="0" marL="0">
              <a:buNone/>
            </a:pPr>
            <a:r>
              <a:rPr lang="en-US" sz="1800" dirty="0">
                <a:solidFill>
                  <a:schemeClr val="bg2"/>
                </a:solidFill>
              </a:rPr>
              <a:t>Per-pupil spending at Leverett Elementary, 2009–2025, compared with the ARPS towns and Western Massachusetts</a:t>
            </a:r>
            <a:endParaRPr lang="en-US" sz="1800" dirty="0"/>
          </a:p>
        </p:txBody>
      </p:sp>
      <p:sp>
        <p:nvSpPr>
          <p:cNvPr id="4" name="Text 0"/>
          <p:cNvSpPr/>
          <p:nvPr>
            <p:ph idx="102" type="body" hasCustomPrompt="1"/>
          </p:nvPr>
        </p:nvSpPr>
        <p:spPr>
          <a:xfrm>
            <a:off x="640080" y="5806440"/>
            <a:ext cx="7315200" cy="457200"/>
          </a:xfrm>
          <a:prstGeom prst="rect">
            <a:avLst/>
          </a:prstGeom>
          <a:noFill/>
          <a:ln/>
        </p:spPr>
        <p:txBody>
          <a:bodyPr wrap="square" lIns="0" tIns="0" rIns="0" bIns="0" rtlCol="0" anchor="t"/>
          <a:lstStyle/>
          <a:p>
            <a:pPr indent="0" marL="0">
              <a:buNone/>
            </a:pPr>
            <a:r>
              <a:rPr lang="en-US" sz="1400" dirty="0">
                <a:solidFill>
                  <a:schemeClr val="bg2"/>
                </a:solidFill>
              </a:rPr>
              <a:t>Tim Shores  ·  Leverett Education Foundation Education Forum  ·  November 2026</a:t>
            </a:r>
            <a:endParaRPr lang="en-US" sz="1400" dirty="0"/>
          </a:p>
        </p:txBody>
      </p:sp>
      <p:sp>
        <p:nvSpPr>
          <p:cNvPr id="5" name="stat card 1"/>
          <p:cNvSpPr/>
          <p:nvPr/>
        </p:nvSpPr>
        <p:spPr>
          <a:xfrm>
            <a:off x="7818120" y="914400"/>
            <a:ext cx="3840480" cy="1371600"/>
          </a:xfrm>
          <a:prstGeom prst="roundRect">
            <a:avLst>
              <a:gd name="adj" fmla="val 8000"/>
            </a:avLst>
          </a:prstGeom>
          <a:solidFill>
            <a:schemeClr val="bg1">
              <a:alpha val="12000"/>
            </a:schemeClr>
          </a:solidFill>
          <a:ln w="9525">
            <a:solidFill>
              <a:schemeClr val="bg1">
                <a:alpha val="30000"/>
              </a:schemeClr>
            </a:solidFill>
            <a:prstDash val="solid"/>
          </a:ln>
        </p:spPr>
      </p:sp>
      <p:sp>
        <p:nvSpPr>
          <p:cNvPr id="6" name="stat 1"/>
          <p:cNvSpPr txBox="1"/>
          <p:nvPr/>
        </p:nvSpPr>
        <p:spPr>
          <a:xfrm>
            <a:off x="8046720" y="1051560"/>
            <a:ext cx="3429000" cy="10972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$23,732</a:t>
            </a:r>
            <a:endParaRPr lang="en-US" sz="3000" dirty="0"/>
          </a:p>
          <a:p>
            <a:pPr indent="0" marL="0">
              <a:buNone/>
            </a:pPr>
            <a:r>
              <a:rPr lang="en-US" sz="1300" dirty="0">
                <a:solidFill>
                  <a:schemeClr val="bg2"/>
                </a:solidFill>
              </a:rPr>
              <a:t>Leverett, spending per pupil, FY2025</a:t>
            </a:r>
            <a:endParaRPr lang="en-US" sz="3000" dirty="0"/>
          </a:p>
        </p:txBody>
      </p:sp>
      <p:sp>
        <p:nvSpPr>
          <p:cNvPr id="7" name="stat card 2"/>
          <p:cNvSpPr/>
          <p:nvPr/>
        </p:nvSpPr>
        <p:spPr>
          <a:xfrm>
            <a:off x="7818120" y="2514600"/>
            <a:ext cx="3840480" cy="1371600"/>
          </a:xfrm>
          <a:prstGeom prst="roundRect">
            <a:avLst>
              <a:gd name="adj" fmla="val 8000"/>
            </a:avLst>
          </a:prstGeom>
          <a:solidFill>
            <a:schemeClr val="bg1">
              <a:alpha val="12000"/>
            </a:schemeClr>
          </a:solidFill>
          <a:ln w="9525">
            <a:solidFill>
              <a:schemeClr val="bg1">
                <a:alpha val="30000"/>
              </a:schemeClr>
            </a:solidFill>
            <a:prstDash val="solid"/>
          </a:ln>
        </p:spPr>
      </p:sp>
      <p:sp>
        <p:nvSpPr>
          <p:cNvPr id="8" name="stat 2"/>
          <p:cNvSpPr txBox="1"/>
          <p:nvPr/>
        </p:nvSpPr>
        <p:spPr>
          <a:xfrm>
            <a:off x="8046720" y="2651760"/>
            <a:ext cx="3429000" cy="10972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$28,924</a:t>
            </a:r>
            <a:endParaRPr lang="en-US" sz="3000" dirty="0"/>
          </a:p>
          <a:p>
            <a:pPr indent="0" marL="0">
              <a:buNone/>
            </a:pPr>
            <a:r>
              <a:rPr lang="en-US" sz="1300" dirty="0">
                <a:solidFill>
                  <a:schemeClr val="bg2"/>
                </a:solidFill>
              </a:rPr>
              <a:t>Average for the 21 Western MA districts with 200 or fewer students</a:t>
            </a:r>
            <a:endParaRPr lang="en-US" sz="3000" dirty="0"/>
          </a:p>
        </p:txBody>
      </p:sp>
      <p:sp>
        <p:nvSpPr>
          <p:cNvPr id="9" name="stat card 3"/>
          <p:cNvSpPr/>
          <p:nvPr/>
        </p:nvSpPr>
        <p:spPr>
          <a:xfrm>
            <a:off x="7818120" y="4114800"/>
            <a:ext cx="3840480" cy="1371600"/>
          </a:xfrm>
          <a:prstGeom prst="roundRect">
            <a:avLst>
              <a:gd name="adj" fmla="val 8000"/>
            </a:avLst>
          </a:prstGeom>
          <a:solidFill>
            <a:schemeClr val="bg1">
              <a:alpha val="12000"/>
            </a:schemeClr>
          </a:solidFill>
          <a:ln w="9525">
            <a:solidFill>
              <a:schemeClr val="bg1">
                <a:alpha val="30000"/>
              </a:schemeClr>
            </a:solidFill>
            <a:prstDash val="solid"/>
          </a:ln>
        </p:spPr>
      </p:sp>
      <p:sp>
        <p:nvSpPr>
          <p:cNvPr id="10" name="stat 3"/>
          <p:cNvSpPr txBox="1"/>
          <p:nvPr/>
        </p:nvSpPr>
        <p:spPr>
          <a:xfrm>
            <a:off x="8046720" y="4251960"/>
            <a:ext cx="3429000" cy="109728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+9% vs +43%</a:t>
            </a:r>
            <a:endParaRPr lang="en-US" sz="3000" dirty="0"/>
          </a:p>
          <a:p>
            <a:pPr indent="0" marL="0">
              <a:buNone/>
            </a:pPr>
            <a:r>
              <a:rPr lang="en-US" sz="1300" dirty="0">
                <a:solidFill>
                  <a:schemeClr val="bg2"/>
                </a:solidFill>
              </a:rPr>
              <a:t>Growth since 2009 after inflation: Leverett vs those districts</a:t>
            </a: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Small districts spend more per pupil, and all of them grew</a:t>
            </a:r>
            <a:endParaRPr lang="en-US" sz="3200" dirty="0"/>
          </a:p>
        </p:txBody>
      </p:sp>
      <p:graphicFrame>
        <p:nvGraphicFramePr>
          <p:cNvPr id="3" name="Western MA PPE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growth"/>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4.0% a year</a:t>
            </a:r>
            <a:endParaRPr lang="en-US" sz="3000" dirty="0"/>
          </a:p>
          <a:p>
            <a:pPr indent="0" marL="0">
              <a:buNone/>
            </a:pPr>
            <a:r>
              <a:rPr lang="en-US" sz="1400" dirty="0">
                <a:solidFill>
                  <a:schemeClr val="tx1"/>
                </a:solidFill>
              </a:rPr>
              <a:t>Average growth in Western MA per-pupil spending, 2009–2025</a:t>
            </a:r>
            <a:endParaRPr lang="en-US" sz="3000" dirty="0"/>
          </a:p>
        </p:txBody>
      </p:sp>
      <p:sp>
        <p:nvSpPr>
          <p:cNvPr id="5" name="callout small premium"/>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$5,949</a:t>
            </a:r>
            <a:endParaRPr lang="en-US" sz="3000" dirty="0"/>
          </a:p>
          <a:p>
            <a:pPr indent="0" marL="0">
              <a:buNone/>
            </a:pPr>
            <a:r>
              <a:rPr lang="en-US" sz="1400" dirty="0">
                <a:solidFill>
                  <a:schemeClr val="tx1"/>
                </a:solidFill>
              </a:rPr>
              <a:t>More per pupil in districts with 200 or fewer students, FY2025: fixed costs spread over fewer students</a:t>
            </a:r>
            <a:endParaRPr lang="en-US" sz="3000" dirty="0"/>
          </a:p>
        </p:txBody>
      </p:sp>
      <p:sp>
        <p:nvSpPr>
          <p:cNvPr id="6" name="callout real"/>
          <p:cNvSpPr txBox="1"/>
          <p:nvPr/>
        </p:nvSpPr>
        <p:spPr>
          <a:xfrm>
            <a:off x="7955280" y="420624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+31%</a:t>
            </a:r>
            <a:endParaRPr lang="en-US" sz="3000" dirty="0"/>
          </a:p>
          <a:p>
            <a:pPr indent="0" marL="0">
              <a:buNone/>
            </a:pPr>
            <a:r>
              <a:rPr lang="en-US" sz="1400" dirty="0">
                <a:solidFill>
                  <a:schemeClr val="tx1"/>
                </a:solidFill>
              </a:rPr>
              <a:t>Western MA growth since 2009 after inflation</a:t>
            </a: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The ARPS towns started high and grew at ordinary rates</a:t>
            </a:r>
            <a:endParaRPr lang="en-US" sz="3200" dirty="0"/>
          </a:p>
        </p:txBody>
      </p:sp>
      <p:graphicFrame>
        <p:nvGraphicFramePr>
          <p:cNvPr id="3" name="ARPS PPE chart" descr=""/>
          <p:cNvGraphicFramePr/>
          <p:nvPr/>
        </p:nvGraphicFramePr>
        <p:xfrm>
          <a:off x="548640" y="1417320"/>
          <a:ext cx="722376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start"/>
          <p:cNvSpPr txBox="1"/>
          <p:nvPr/>
        </p:nvSpPr>
        <p:spPr>
          <a:xfrm>
            <a:off x="8229600" y="1554480"/>
            <a:ext cx="347472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$14,011+</a:t>
            </a:r>
            <a:endParaRPr lang="en-US" sz="3000" dirty="0"/>
          </a:p>
          <a:p>
            <a:pPr indent="0" marL="0">
              <a:buNone/>
            </a:pPr>
            <a:r>
              <a:rPr lang="en-US" sz="1400" dirty="0">
                <a:solidFill>
                  <a:schemeClr val="tx1"/>
                </a:solidFill>
              </a:rPr>
              <a:t>Every ARPS district spent more per pupil in 2009 than the Western MA average of $12,210</a:t>
            </a:r>
            <a:endParaRPr lang="en-US" sz="3000" dirty="0"/>
          </a:p>
        </p:txBody>
      </p:sp>
      <p:sp>
        <p:nvSpPr>
          <p:cNvPr id="5" name="callout rates"/>
          <p:cNvSpPr txBox="1"/>
          <p:nvPr/>
        </p:nvSpPr>
        <p:spPr>
          <a:xfrm>
            <a:off x="8229600" y="2971800"/>
            <a:ext cx="347472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2.4–4.3% a year</a:t>
            </a:r>
            <a:endParaRPr lang="en-US" sz="3000" dirty="0"/>
          </a:p>
          <a:p>
            <a:pPr indent="0" marL="0">
              <a:buNone/>
            </a:pPr>
            <a:r>
              <a:rPr lang="en-US" sz="1400" dirty="0">
                <a:solidFill>
                  <a:schemeClr val="tx1"/>
                </a:solidFill>
              </a:rPr>
              <a:t>ARPS growth since 2009, against 4.0% for Western MA</a:t>
            </a:r>
            <a:endParaRPr lang="en-US" sz="3000" dirty="0"/>
          </a:p>
        </p:txBody>
      </p:sp>
      <p:sp>
        <p:nvSpPr>
          <p:cNvPr id="6" name="takeaway"/>
          <p:cNvSpPr txBox="1"/>
          <p:nvPr/>
        </p:nvSpPr>
        <p:spPr>
          <a:xfrm>
            <a:off x="8229600" y="4434840"/>
            <a:ext cx="3474720" cy="1097280"/>
          </a:xfrm>
          <a:prstGeom prst="rect">
            <a:avLst/>
          </a:prstGeom>
          <a:noFill/>
          <a:ln/>
        </p:spPr>
        <p:txBody>
          <a:bodyPr wrap="square" lIns="0" tIns="0" rIns="0" bIns="0" rtlCol="0" anchor="t"/>
          <a:lstStyle/>
          <a:p>
            <a:pPr indent="0" marL="0">
              <a:buNone/>
            </a:pPr>
            <a:r>
              <a:rPr lang="en-US" sz="1600" i="1" dirty="0">
                <a:solidFill>
                  <a:schemeClr val="accent2"/>
                </a:solidFill>
              </a:rPr>
              <a:t>Today's high spending is a legacy of a high starting point, not runaway growth.</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Most of the growth since 2009 is inflation</a:t>
            </a:r>
            <a:endParaRPr lang="en-US" sz="3200" dirty="0"/>
          </a:p>
        </p:txBody>
      </p:sp>
      <p:graphicFrame>
        <p:nvGraphicFramePr>
          <p:cNvPr id="3" name="inflation demo chart" descr=""/>
          <p:cNvGraphicFramePr/>
          <p:nvPr/>
        </p:nvGraphicFramePr>
        <p:xfrm>
          <a:off x="548640" y="1417320"/>
          <a:ext cx="722376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dollar"/>
          <p:cNvSpPr txBox="1"/>
          <p:nvPr/>
        </p:nvSpPr>
        <p:spPr>
          <a:xfrm>
            <a:off x="8229600" y="1554480"/>
            <a:ext cx="347472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$1.00 → $1.44</a:t>
            </a:r>
            <a:endParaRPr lang="en-US" sz="3000" dirty="0"/>
          </a:p>
          <a:p>
            <a:pPr indent="0" marL="0">
              <a:buNone/>
            </a:pPr>
            <a:r>
              <a:rPr lang="en-US" sz="1400" dirty="0">
                <a:solidFill>
                  <a:schemeClr val="tx1"/>
                </a:solidFill>
              </a:rPr>
              <a:t>A dollar spent in FY2009 buys what $1.44 buys in FY2025, by Northeast consumer prices</a:t>
            </a:r>
            <a:endParaRPr lang="en-US" sz="3000" dirty="0"/>
          </a:p>
        </p:txBody>
      </p:sp>
      <p:sp>
        <p:nvSpPr>
          <p:cNvPr id="5" name="callout Leverett"/>
          <p:cNvSpPr txBox="1"/>
          <p:nvPr/>
        </p:nvSpPr>
        <p:spPr>
          <a:xfrm>
            <a:off x="8229600" y="2880360"/>
            <a:ext cx="347472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+57% → +9%</a:t>
            </a:r>
            <a:endParaRPr lang="en-US" sz="3000" dirty="0"/>
          </a:p>
          <a:p>
            <a:pPr indent="0" marL="0">
              <a:buNone/>
            </a:pPr>
            <a:r>
              <a:rPr lang="en-US" sz="1400" dirty="0">
                <a:solidFill>
                  <a:schemeClr val="tx1"/>
                </a:solidFill>
              </a:rPr>
              <a:t>Leverett's growth in spending per pupil since FY2009, as spent, then after inflation</a:t>
            </a:r>
            <a:endParaRPr lang="en-US" sz="3000" dirty="0"/>
          </a:p>
        </p:txBody>
      </p:sp>
      <p:sp>
        <p:nvSpPr>
          <p:cNvPr id="6" name="callout ARPS"/>
          <p:cNvSpPr txBox="1"/>
          <p:nvPr/>
        </p:nvSpPr>
        <p:spPr>
          <a:xfrm>
            <a:off x="8229600" y="4206240"/>
            <a:ext cx="347472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+72% → +20%</a:t>
            </a:r>
            <a:endParaRPr lang="en-US" sz="3000" dirty="0"/>
          </a:p>
          <a:p>
            <a:pPr indent="0" marL="0">
              <a:buNone/>
            </a:pPr>
            <a:r>
              <a:rPr lang="en-US" sz="1400" dirty="0">
                <a:solidFill>
                  <a:schemeClr val="tx1"/>
                </a:solidFill>
              </a:rPr>
              <a:t>The same for Amherst-Pelham Regional</a:t>
            </a: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Leverett went from above its peers to below them</a:t>
            </a:r>
            <a:endParaRPr lang="en-US" sz="3200" dirty="0"/>
          </a:p>
        </p:txBody>
      </p:sp>
      <p:graphicFrame>
        <p:nvGraphicFramePr>
          <p:cNvPr id="3" name="Leverett real PPE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rank"/>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19 of 21</a:t>
            </a:r>
            <a:endParaRPr lang="en-US" sz="3000" dirty="0"/>
          </a:p>
          <a:p>
            <a:pPr indent="0" marL="0">
              <a:buNone/>
            </a:pPr>
            <a:r>
              <a:rPr lang="en-US" sz="1400" dirty="0">
                <a:solidFill>
                  <a:schemeClr val="tx1"/>
                </a:solidFill>
              </a:rPr>
              <a:t>Leverett's rank on FY2025 spending per pupil among districts with 200 or fewer students</a:t>
            </a:r>
            <a:endParaRPr lang="en-US" sz="3000" dirty="0"/>
          </a:p>
        </p:txBody>
      </p:sp>
      <p:sp>
        <p:nvSpPr>
          <p:cNvPr id="5" name="callout since 2014"/>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−14%</a:t>
            </a:r>
            <a:endParaRPr lang="en-US" sz="3000" dirty="0"/>
          </a:p>
          <a:p>
            <a:pPr indent="0" marL="0">
              <a:buNone/>
            </a:pPr>
            <a:r>
              <a:rPr lang="en-US" sz="1400" dirty="0">
                <a:solidFill>
                  <a:schemeClr val="tx1"/>
                </a:solidFill>
              </a:rPr>
              <a:t>Change in Leverett's spending per pupil since 2014, after inflation</a:t>
            </a:r>
            <a:endParaRPr lang="en-US" sz="3000" dirty="0"/>
          </a:p>
        </p:txBody>
      </p:sp>
      <p:sp>
        <p:nvSpPr>
          <p:cNvPr id="6" name="callout enrollment"/>
          <p:cNvSpPr txBox="1"/>
          <p:nvPr/>
        </p:nvSpPr>
        <p:spPr>
          <a:xfrm>
            <a:off x="7955280" y="420624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162 → 124 → 137</a:t>
            </a:r>
            <a:endParaRPr lang="en-US" sz="3000" dirty="0"/>
          </a:p>
          <a:p>
            <a:pPr indent="0" marL="0">
              <a:buNone/>
            </a:pPr>
            <a:r>
              <a:rPr lang="en-US" sz="1400" dirty="0">
                <a:solidFill>
                  <a:schemeClr val="tx1"/>
                </a:solidFill>
              </a:rPr>
              <a:t>Students at Leverett Elementary, 2009, 2014 and 2025, residents and school-choice students together</a:t>
            </a: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Lower teacher pay has held Leverett's costs down</a:t>
            </a:r>
            <a:endParaRPr lang="en-US" sz="3200" dirty="0"/>
          </a:p>
        </p:txBody>
      </p:sp>
      <p:graphicFrame>
        <p:nvGraphicFramePr>
          <p:cNvPr id="3" name="teacher salary chart" descr=""/>
          <p:cNvGraphicFramePr/>
          <p:nvPr/>
        </p:nvGraphicFramePr>
        <p:xfrm>
          <a:off x="548640" y="1417320"/>
          <a:ext cx="6949440" cy="4754880"/>
        </p:xfrm>
        <a:graphic xmlns:a="http://schemas.openxmlformats.org/drawingml/2006/main">
          <a:graphicData uri="http://schemas.openxmlformats.org/drawingml/2006/chart">
            <c:chart xmlns:c="http://schemas.openxmlformats.org/drawingml/2006/chart" r:id="rId1"/>
          </a:graphicData>
        </a:graphic>
      </p:graphicFrame>
      <p:sp>
        <p:nvSpPr>
          <p:cNvPr id="4" name="callout pay gap"/>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$9,479</a:t>
            </a:r>
            <a:endParaRPr lang="en-US" sz="3000" dirty="0"/>
          </a:p>
          <a:p>
            <a:pPr indent="0" marL="0">
              <a:buNone/>
            </a:pPr>
            <a:r>
              <a:rPr lang="en-US" sz="1400" dirty="0">
                <a:solidFill>
                  <a:schemeClr val="tx1"/>
                </a:solidFill>
              </a:rPr>
              <a:t>Below the average teacher salary in districts with 200 or fewer students, FY2025</a:t>
            </a:r>
            <a:endParaRPr lang="en-US" sz="3000" dirty="0"/>
          </a:p>
        </p:txBody>
      </p:sp>
      <p:sp>
        <p:nvSpPr>
          <p:cNvPr id="5" name="callout aid"/>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$3,885 vs $5,560</a:t>
            </a:r>
            <a:endParaRPr lang="en-US" sz="3000" dirty="0"/>
          </a:p>
          <a:p>
            <a:pPr indent="0" marL="0">
              <a:buNone/>
            </a:pPr>
            <a:r>
              <a:rPr lang="en-US" sz="1400" dirty="0">
                <a:solidFill>
                  <a:schemeClr val="tx1"/>
                </a:solidFill>
              </a:rPr>
              <a:t>State Chapter 70 aid per pupil: Leverett vs districts with 200 or fewer students</a:t>
            </a:r>
            <a:endParaRPr lang="en-US" sz="3000" dirty="0"/>
          </a:p>
        </p:txBody>
      </p:sp>
      <p:sp>
        <p:nvSpPr>
          <p:cNvPr id="6" name="takeaway"/>
          <p:cNvSpPr txBox="1"/>
          <p:nvPr/>
        </p:nvSpPr>
        <p:spPr>
          <a:xfrm>
            <a:off x="7955280" y="4206240"/>
            <a:ext cx="3657600" cy="1463040"/>
          </a:xfrm>
          <a:prstGeom prst="rect">
            <a:avLst/>
          </a:prstGeom>
          <a:noFill/>
          <a:ln/>
        </p:spPr>
        <p:txBody>
          <a:bodyPr wrap="square" lIns="0" tIns="0" rIns="0" bIns="0" rtlCol="0" anchor="t"/>
          <a:lstStyle/>
          <a:p>
            <a:pPr indent="0" marL="0">
              <a:buNone/>
            </a:pPr>
            <a:r>
              <a:rPr lang="en-US" sz="1600" i="1" dirty="0">
                <a:solidFill>
                  <a:schemeClr val="accent2"/>
                </a:solidFill>
              </a:rPr>
              <a:t>The town carries more of the cost, and its educators absorb part of it in pay. The structural fix sits with the state's funding formula.</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200" b="1" dirty="0">
                <a:solidFill>
                  <a:schemeClr val="tx2"/>
                </a:solidFill>
              </a:rPr>
              <a:t>Leverett puts more of its budget into schools</a:t>
            </a:r>
            <a:endParaRPr lang="en-US" sz="3200" dirty="0"/>
          </a:p>
        </p:txBody>
      </p:sp>
      <p:graphicFrame>
        <p:nvGraphicFramePr>
          <p:cNvPr id="3" name="education share chart" descr=""/>
          <p:cNvGraphicFramePr/>
          <p:nvPr/>
        </p:nvGraphicFramePr>
        <p:xfrm>
          <a:off x="548640" y="1417320"/>
          <a:ext cx="6949440" cy="4526280"/>
        </p:xfrm>
        <a:graphic xmlns:a="http://schemas.openxmlformats.org/drawingml/2006/main">
          <a:graphicData uri="http://schemas.openxmlformats.org/drawingml/2006/chart">
            <c:chart xmlns:c="http://schemas.openxmlformats.org/drawingml/2006/chart" r:id="rId1"/>
          </a:graphicData>
        </a:graphic>
      </p:graphicFrame>
      <p:sp>
        <p:nvSpPr>
          <p:cNvPr id="4" name="town source"/>
          <p:cNvSpPr txBox="1"/>
          <p:nvPr/>
        </p:nvSpPr>
        <p:spPr>
          <a:xfrm>
            <a:off x="548640" y="5989320"/>
            <a:ext cx="6949440" cy="274320"/>
          </a:xfrm>
          <a:prstGeom prst="rect">
            <a:avLst/>
          </a:prstGeom>
          <a:noFill/>
          <a:ln/>
        </p:spPr>
        <p:txBody>
          <a:bodyPr wrap="square" lIns="0" tIns="0" rIns="0" bIns="0" rtlCol="0" anchor="ctr"/>
          <a:lstStyle/>
          <a:p>
            <a:pPr indent="0" marL="0">
              <a:buNone/>
            </a:pPr>
            <a:r>
              <a:rPr lang="en-US" sz="1000" dirty="0">
                <a:solidFill>
                  <a:schemeClr val="accent6"/>
                </a:solidFill>
              </a:rPr>
              <a:t>Town budgets: state Division of Local Services (Schedule A). Population: Census Bureau.</a:t>
            </a:r>
            <a:endParaRPr lang="en-US" sz="1000" dirty="0"/>
          </a:p>
        </p:txBody>
      </p:sp>
      <p:sp>
        <p:nvSpPr>
          <p:cNvPr id="5" name="callout share"/>
          <p:cNvSpPr txBox="1"/>
          <p:nvPr/>
        </p:nvSpPr>
        <p:spPr>
          <a:xfrm>
            <a:off x="7955280" y="1554480"/>
            <a:ext cx="3657600" cy="960120"/>
          </a:xfrm>
          <a:prstGeom prst="rect">
            <a:avLst/>
          </a:prstGeom>
          <a:noFill/>
          <a:ln/>
        </p:spPr>
        <p:txBody>
          <a:bodyPr wrap="square" lIns="0" tIns="0" rIns="0" bIns="0" rtlCol="0" anchor="t"/>
          <a:lstStyle/>
          <a:p>
            <a:pPr indent="0" marL="0">
              <a:buNone/>
            </a:pPr>
            <a:r>
              <a:rPr lang="en-US" sz="3000" b="1" dirty="0">
                <a:solidFill>
                  <a:schemeClr val="accent1"/>
                </a:solidFill>
                <a:latin typeface="Cambria" pitchFamily="34" charset="0"/>
                <a:ea typeface="Cambria" pitchFamily="34" charset="-122"/>
                <a:cs typeface="Cambria" pitchFamily="34" charset="-120"/>
              </a:rPr>
              <a:t>61% vs 48%</a:t>
            </a:r>
            <a:endParaRPr lang="en-US" sz="3000" dirty="0"/>
          </a:p>
          <a:p>
            <a:pPr indent="0" marL="0">
              <a:buNone/>
            </a:pPr>
            <a:r>
              <a:rPr lang="en-US" sz="1400" dirty="0">
                <a:solidFill>
                  <a:schemeClr val="tx1"/>
                </a:solidFill>
              </a:rPr>
              <a:t>Education's share of spending: Leverett vs the 35 Western MA towns of 1,000–2,499 residents</a:t>
            </a:r>
            <a:endParaRPr lang="en-US" sz="3000" dirty="0"/>
          </a:p>
        </p:txBody>
      </p:sp>
      <p:sp>
        <p:nvSpPr>
          <p:cNvPr id="6" name="callout spending"/>
          <p:cNvSpPr txBox="1"/>
          <p:nvPr/>
        </p:nvSpPr>
        <p:spPr>
          <a:xfrm>
            <a:off x="7955280" y="288036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$4,029 vs $4,116</a:t>
            </a:r>
            <a:endParaRPr lang="en-US" sz="3000" dirty="0"/>
          </a:p>
          <a:p>
            <a:pPr indent="0" marL="0">
              <a:buNone/>
            </a:pPr>
            <a:r>
              <a:rPr lang="en-US" sz="1400" dirty="0">
                <a:solidFill>
                  <a:schemeClr val="tx1"/>
                </a:solidFill>
              </a:rPr>
              <a:t>Total general fund spending per resident: about the same as those towns</a:t>
            </a:r>
            <a:endParaRPr lang="en-US" sz="3000" dirty="0"/>
          </a:p>
        </p:txBody>
      </p:sp>
      <p:sp>
        <p:nvSpPr>
          <p:cNvPr id="7" name="callout taxes"/>
          <p:cNvSpPr txBox="1"/>
          <p:nvPr/>
        </p:nvSpPr>
        <p:spPr>
          <a:xfrm>
            <a:off x="7955280" y="4206240"/>
            <a:ext cx="3657600" cy="96012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$3,624 vs $3,561</a:t>
            </a:r>
            <a:endParaRPr lang="en-US" sz="3000" dirty="0"/>
          </a:p>
          <a:p>
            <a:pPr indent="0" marL="0">
              <a:buNone/>
            </a:pPr>
            <a:r>
              <a:rPr lang="en-US" sz="1400" dirty="0">
                <a:solidFill>
                  <a:schemeClr val="tx1"/>
                </a:solidFill>
              </a:rPr>
              <a:t>Taxes per resident, the same comparison</a:t>
            </a:r>
            <a:endParaRPr lang="en-US" sz="3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Leverett Forum">
      <a:dk1>
        <a:srgbClr val="1F2A2E"/>
      </a:dk1>
      <a:lt1>
        <a:srgbClr val="FFFFFF"/>
      </a:lt1>
      <a:dk2>
        <a:srgbClr val="23423A"/>
      </a:dk2>
      <a:lt2>
        <a:srgbClr val="EEF2EF"/>
      </a:lt2>
      <a:accent1>
        <a:srgbClr val="C8553D"/>
      </a:accent1>
      <a:accent2>
        <a:srgbClr val="2F6F62"/>
      </a:accent2>
      <a:accent3>
        <a:srgbClr val="9DB5AC"/>
      </a:accent3>
      <a:accent4>
        <a:srgbClr val="E0A458"/>
      </a:accent4>
      <a:accent5>
        <a:srgbClr val="5B6C8F"/>
      </a:accent5>
      <a:accent6>
        <a:srgbClr val="7A8580"/>
      </a:accent6>
      <a:hlink>
        <a:srgbClr val="2F6F62"/>
      </a:hlink>
      <a:folHlink>
        <a:srgbClr val="5B6C8F"/>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Leverett school spending in context</dc:title>
  <dc:subject>PptxGenJS Presentation</dc:subject>
  <dc:creator>Tim Shores</dc:creator>
  <cp:lastModifiedBy>Tim Shores</cp:lastModifiedBy>
  <cp:revision>1</cp:revision>
  <dcterms:created xsi:type="dcterms:W3CDTF">2026-10-22T00:53:54Z</dcterms:created>
  <dcterms:modified xsi:type="dcterms:W3CDTF">2026-10-22T00:53:54Z</dcterms:modified>
</cp:coreProperties>
</file>